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5" r:id="rId4"/>
    <p:sldId id="267" r:id="rId5"/>
    <p:sldId id="268" r:id="rId6"/>
    <p:sldId id="269" r:id="rId7"/>
    <p:sldId id="272" r:id="rId8"/>
    <p:sldId id="270" r:id="rId9"/>
    <p:sldId id="271" r:id="rId10"/>
    <p:sldId id="266" r:id="rId11"/>
    <p:sldId id="273" r:id="rId12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73" autoAdjust="0"/>
    <p:restoredTop sz="86529" autoAdjust="0"/>
  </p:normalViewPr>
  <p:slideViewPr>
    <p:cSldViewPr snapToGrid="0" showGuides="1">
      <p:cViewPr varScale="1">
        <p:scale>
          <a:sx n="89" d="100"/>
          <a:sy n="89" d="100"/>
        </p:scale>
        <p:origin x="78" y="2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22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D2BBFF-3680-4C4B-B1B9-14E00C8603EE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</dgm:pt>
    <dgm:pt modelId="{519ED86E-46C6-4676-98D8-460F9F6474E8}">
      <dgm:prSet phldrT="[Text]"/>
      <dgm:spPr/>
      <dgm:t>
        <a:bodyPr/>
        <a:lstStyle/>
        <a:p>
          <a:r>
            <a:rPr lang="en-US" dirty="0"/>
            <a:t>EDA on Raw Data</a:t>
          </a:r>
          <a:endParaRPr lang="zh-CN" altLang="en-US" dirty="0"/>
        </a:p>
      </dgm:t>
    </dgm:pt>
    <dgm:pt modelId="{06601361-7938-403B-ADDF-CD3C88539F3A}" type="parTrans" cxnId="{28088A93-7E45-46DB-9660-3C758C5FE7B0}">
      <dgm:prSet/>
      <dgm:spPr/>
      <dgm:t>
        <a:bodyPr/>
        <a:lstStyle/>
        <a:p>
          <a:endParaRPr lang="zh-CN" altLang="en-US"/>
        </a:p>
      </dgm:t>
    </dgm:pt>
    <dgm:pt modelId="{D2233C38-B53B-4D12-BF9D-599B42CE6955}" type="sibTrans" cxnId="{28088A93-7E45-46DB-9660-3C758C5FE7B0}">
      <dgm:prSet/>
      <dgm:spPr/>
      <dgm:t>
        <a:bodyPr/>
        <a:lstStyle/>
        <a:p>
          <a:endParaRPr lang="zh-CN" altLang="en-US"/>
        </a:p>
      </dgm:t>
    </dgm:pt>
    <dgm:pt modelId="{9336350A-36E3-4859-8EB7-FB3554362064}">
      <dgm:prSet phldrT="[Text]"/>
      <dgm:spPr/>
      <dgm:t>
        <a:bodyPr/>
        <a:lstStyle/>
        <a:p>
          <a:r>
            <a:rPr lang="en-US" dirty="0"/>
            <a:t>Data Harmonization</a:t>
          </a:r>
          <a:endParaRPr lang="zh-CN" altLang="en-US" dirty="0"/>
        </a:p>
      </dgm:t>
    </dgm:pt>
    <dgm:pt modelId="{FF990FE5-AA43-4D3A-B2C4-07553636A564}" type="parTrans" cxnId="{232BCB08-4DD0-431A-853E-BADEE1781681}">
      <dgm:prSet/>
      <dgm:spPr/>
      <dgm:t>
        <a:bodyPr/>
        <a:lstStyle/>
        <a:p>
          <a:endParaRPr lang="zh-CN" altLang="en-US"/>
        </a:p>
      </dgm:t>
    </dgm:pt>
    <dgm:pt modelId="{C995644B-05FB-4C57-90A5-D257068A1CEA}" type="sibTrans" cxnId="{232BCB08-4DD0-431A-853E-BADEE1781681}">
      <dgm:prSet/>
      <dgm:spPr/>
      <dgm:t>
        <a:bodyPr/>
        <a:lstStyle/>
        <a:p>
          <a:endParaRPr lang="zh-CN" altLang="en-US"/>
        </a:p>
      </dgm:t>
    </dgm:pt>
    <dgm:pt modelId="{78B3884E-00FD-4E93-9A16-18395518D1EA}">
      <dgm:prSet phldrT="[Text]"/>
      <dgm:spPr/>
      <dgm:t>
        <a:bodyPr/>
        <a:lstStyle/>
        <a:p>
          <a:r>
            <a:rPr lang="en-US" dirty="0"/>
            <a:t>Estimation and Testing</a:t>
          </a:r>
          <a:endParaRPr lang="zh-CN" altLang="en-US" dirty="0"/>
        </a:p>
      </dgm:t>
    </dgm:pt>
    <dgm:pt modelId="{105379A7-1378-4CEC-A39E-990972FD1DA7}" type="parTrans" cxnId="{244CC9DF-8947-4242-893B-247BCCECB102}">
      <dgm:prSet/>
      <dgm:spPr/>
      <dgm:t>
        <a:bodyPr/>
        <a:lstStyle/>
        <a:p>
          <a:endParaRPr lang="zh-CN" altLang="en-US"/>
        </a:p>
      </dgm:t>
    </dgm:pt>
    <dgm:pt modelId="{1FEEDA28-067C-4E95-B141-4C67DE712ED7}" type="sibTrans" cxnId="{244CC9DF-8947-4242-893B-247BCCECB102}">
      <dgm:prSet/>
      <dgm:spPr/>
      <dgm:t>
        <a:bodyPr/>
        <a:lstStyle/>
        <a:p>
          <a:endParaRPr lang="zh-CN" altLang="en-US"/>
        </a:p>
      </dgm:t>
    </dgm:pt>
    <dgm:pt modelId="{C6691616-B1F5-4FD5-96CF-5C62A05AEB21}">
      <dgm:prSet phldrT="[Text]"/>
      <dgm:spPr/>
      <dgm:t>
        <a:bodyPr/>
        <a:lstStyle/>
        <a:p>
          <a:r>
            <a:rPr lang="en-US"/>
            <a:t>Reproducible Workflow</a:t>
          </a:r>
          <a:endParaRPr lang="zh-CN" altLang="en-US" dirty="0"/>
        </a:p>
      </dgm:t>
    </dgm:pt>
    <dgm:pt modelId="{90006D75-E8D7-47D7-B192-FC39CCDCFA72}" type="parTrans" cxnId="{B38D2E61-34CB-4787-8F3E-4B33789E63C0}">
      <dgm:prSet/>
      <dgm:spPr/>
      <dgm:t>
        <a:bodyPr/>
        <a:lstStyle/>
        <a:p>
          <a:endParaRPr lang="zh-CN" altLang="en-US"/>
        </a:p>
      </dgm:t>
    </dgm:pt>
    <dgm:pt modelId="{129F19C7-9194-4F1F-A7E7-08A3CF48CC99}" type="sibTrans" cxnId="{B38D2E61-34CB-4787-8F3E-4B33789E63C0}">
      <dgm:prSet/>
      <dgm:spPr/>
      <dgm:t>
        <a:bodyPr/>
        <a:lstStyle/>
        <a:p>
          <a:endParaRPr lang="zh-CN" altLang="en-US"/>
        </a:p>
      </dgm:t>
    </dgm:pt>
    <dgm:pt modelId="{FFB56551-8718-487F-A8A0-217A843CA321}" type="pres">
      <dgm:prSet presAssocID="{1AD2BBFF-3680-4C4B-B1B9-14E00C8603EE}" presName="rootnode" presStyleCnt="0">
        <dgm:presLayoutVars>
          <dgm:chMax/>
          <dgm:chPref/>
          <dgm:dir/>
          <dgm:animLvl val="lvl"/>
        </dgm:presLayoutVars>
      </dgm:prSet>
      <dgm:spPr/>
    </dgm:pt>
    <dgm:pt modelId="{A75B9386-E4E3-4107-8683-02FBB140C42D}" type="pres">
      <dgm:prSet presAssocID="{519ED86E-46C6-4676-98D8-460F9F6474E8}" presName="composite" presStyleCnt="0"/>
      <dgm:spPr/>
    </dgm:pt>
    <dgm:pt modelId="{69527FD1-40C6-4E55-A11B-F6133781A754}" type="pres">
      <dgm:prSet presAssocID="{519ED86E-46C6-4676-98D8-460F9F6474E8}" presName="LShape" presStyleLbl="alignNode1" presStyleIdx="0" presStyleCnt="7"/>
      <dgm:spPr/>
    </dgm:pt>
    <dgm:pt modelId="{BFCFA4A0-2561-4D60-BF5E-C3303B3F0B06}" type="pres">
      <dgm:prSet presAssocID="{519ED86E-46C6-4676-98D8-460F9F6474E8}" presName="Parent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851E3E90-19C2-4415-AE07-E49F52089EF0}" type="pres">
      <dgm:prSet presAssocID="{519ED86E-46C6-4676-98D8-460F9F6474E8}" presName="Triangle" presStyleLbl="alignNode1" presStyleIdx="1" presStyleCnt="7"/>
      <dgm:spPr/>
    </dgm:pt>
    <dgm:pt modelId="{ED5A876A-512F-48EE-BE66-C3C9089F853B}" type="pres">
      <dgm:prSet presAssocID="{D2233C38-B53B-4D12-BF9D-599B42CE6955}" presName="sibTrans" presStyleCnt="0"/>
      <dgm:spPr/>
    </dgm:pt>
    <dgm:pt modelId="{7B80FFAD-1345-4A67-A34E-4629D92F0E24}" type="pres">
      <dgm:prSet presAssocID="{D2233C38-B53B-4D12-BF9D-599B42CE6955}" presName="space" presStyleCnt="0"/>
      <dgm:spPr/>
    </dgm:pt>
    <dgm:pt modelId="{1809298D-6B1A-498E-BB4E-09E91369DEAB}" type="pres">
      <dgm:prSet presAssocID="{9336350A-36E3-4859-8EB7-FB3554362064}" presName="composite" presStyleCnt="0"/>
      <dgm:spPr/>
    </dgm:pt>
    <dgm:pt modelId="{BBD445AC-F09E-4D1B-84AE-644D94AB0AA4}" type="pres">
      <dgm:prSet presAssocID="{9336350A-36E3-4859-8EB7-FB3554362064}" presName="LShape" presStyleLbl="alignNode1" presStyleIdx="2" presStyleCnt="7"/>
      <dgm:spPr/>
    </dgm:pt>
    <dgm:pt modelId="{B5D5A48F-C936-47AA-A2A5-7DB8135BC282}" type="pres">
      <dgm:prSet presAssocID="{9336350A-36E3-4859-8EB7-FB3554362064}" presName="Parent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4D6B8DAC-F4A5-4CF2-959C-17273ED6A7B5}" type="pres">
      <dgm:prSet presAssocID="{9336350A-36E3-4859-8EB7-FB3554362064}" presName="Triangle" presStyleLbl="alignNode1" presStyleIdx="3" presStyleCnt="7"/>
      <dgm:spPr/>
    </dgm:pt>
    <dgm:pt modelId="{6CE42B97-DA35-4814-B770-42AC989121F5}" type="pres">
      <dgm:prSet presAssocID="{C995644B-05FB-4C57-90A5-D257068A1CEA}" presName="sibTrans" presStyleCnt="0"/>
      <dgm:spPr/>
    </dgm:pt>
    <dgm:pt modelId="{0DCB7DC6-8D28-4DBA-BE8D-FB88B5457183}" type="pres">
      <dgm:prSet presAssocID="{C995644B-05FB-4C57-90A5-D257068A1CEA}" presName="space" presStyleCnt="0"/>
      <dgm:spPr/>
    </dgm:pt>
    <dgm:pt modelId="{27CA6906-A8C5-4129-93C7-9B8654837262}" type="pres">
      <dgm:prSet presAssocID="{78B3884E-00FD-4E93-9A16-18395518D1EA}" presName="composite" presStyleCnt="0"/>
      <dgm:spPr/>
    </dgm:pt>
    <dgm:pt modelId="{7C1AA815-39FE-4B6C-84C6-2E0654AE69BF}" type="pres">
      <dgm:prSet presAssocID="{78B3884E-00FD-4E93-9A16-18395518D1EA}" presName="LShape" presStyleLbl="alignNode1" presStyleIdx="4" presStyleCnt="7"/>
      <dgm:spPr/>
    </dgm:pt>
    <dgm:pt modelId="{1F6B1AAB-E658-459B-90B9-2FC936FDFF3E}" type="pres">
      <dgm:prSet presAssocID="{78B3884E-00FD-4E93-9A16-18395518D1EA}" presName="Parent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CE67EDBB-FE94-4FB3-AF84-E6645676087D}" type="pres">
      <dgm:prSet presAssocID="{78B3884E-00FD-4E93-9A16-18395518D1EA}" presName="Triangle" presStyleLbl="alignNode1" presStyleIdx="5" presStyleCnt="7"/>
      <dgm:spPr/>
    </dgm:pt>
    <dgm:pt modelId="{0A4DBFEF-D03D-4639-89DA-48BC45A18576}" type="pres">
      <dgm:prSet presAssocID="{1FEEDA28-067C-4E95-B141-4C67DE712ED7}" presName="sibTrans" presStyleCnt="0"/>
      <dgm:spPr/>
    </dgm:pt>
    <dgm:pt modelId="{6D77CEA5-28A8-4793-AB8D-D5B857E15B4C}" type="pres">
      <dgm:prSet presAssocID="{1FEEDA28-067C-4E95-B141-4C67DE712ED7}" presName="space" presStyleCnt="0"/>
      <dgm:spPr/>
    </dgm:pt>
    <dgm:pt modelId="{6FE2F184-C9E6-4FD5-9E18-F90828473C4F}" type="pres">
      <dgm:prSet presAssocID="{C6691616-B1F5-4FD5-96CF-5C62A05AEB21}" presName="composite" presStyleCnt="0"/>
      <dgm:spPr/>
    </dgm:pt>
    <dgm:pt modelId="{87EAF7AC-2269-4374-8B8F-4C3ADC5FC321}" type="pres">
      <dgm:prSet presAssocID="{C6691616-B1F5-4FD5-96CF-5C62A05AEB21}" presName="LShape" presStyleLbl="alignNode1" presStyleIdx="6" presStyleCnt="7"/>
      <dgm:spPr/>
    </dgm:pt>
    <dgm:pt modelId="{C974D6A0-B25E-4AA0-812C-B40C094E02CF}" type="pres">
      <dgm:prSet presAssocID="{C6691616-B1F5-4FD5-96CF-5C62A05AEB21}" presName="Parent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32BCB08-4DD0-431A-853E-BADEE1781681}" srcId="{1AD2BBFF-3680-4C4B-B1B9-14E00C8603EE}" destId="{9336350A-36E3-4859-8EB7-FB3554362064}" srcOrd="1" destOrd="0" parTransId="{FF990FE5-AA43-4D3A-B2C4-07553636A564}" sibTransId="{C995644B-05FB-4C57-90A5-D257068A1CEA}"/>
    <dgm:cxn modelId="{C06C361F-985B-4AF2-95C6-6C9CC7B80460}" type="presOf" srcId="{9336350A-36E3-4859-8EB7-FB3554362064}" destId="{B5D5A48F-C936-47AA-A2A5-7DB8135BC282}" srcOrd="0" destOrd="0" presId="urn:microsoft.com/office/officeart/2009/3/layout/StepUpProcess"/>
    <dgm:cxn modelId="{9F77DF2E-9F4A-4E67-871B-9E0324A6090C}" type="presOf" srcId="{519ED86E-46C6-4676-98D8-460F9F6474E8}" destId="{BFCFA4A0-2561-4D60-BF5E-C3303B3F0B06}" srcOrd="0" destOrd="0" presId="urn:microsoft.com/office/officeart/2009/3/layout/StepUpProcess"/>
    <dgm:cxn modelId="{ADF62838-1D72-449F-B69E-982D83273415}" type="presOf" srcId="{78B3884E-00FD-4E93-9A16-18395518D1EA}" destId="{1F6B1AAB-E658-459B-90B9-2FC936FDFF3E}" srcOrd="0" destOrd="0" presId="urn:microsoft.com/office/officeart/2009/3/layout/StepUpProcess"/>
    <dgm:cxn modelId="{B38D2E61-34CB-4787-8F3E-4B33789E63C0}" srcId="{1AD2BBFF-3680-4C4B-B1B9-14E00C8603EE}" destId="{C6691616-B1F5-4FD5-96CF-5C62A05AEB21}" srcOrd="3" destOrd="0" parTransId="{90006D75-E8D7-47D7-B192-FC39CCDCFA72}" sibTransId="{129F19C7-9194-4F1F-A7E7-08A3CF48CC99}"/>
    <dgm:cxn modelId="{70D29567-D31B-4A73-978A-5C4646009F78}" type="presOf" srcId="{C6691616-B1F5-4FD5-96CF-5C62A05AEB21}" destId="{C974D6A0-B25E-4AA0-812C-B40C094E02CF}" srcOrd="0" destOrd="0" presId="urn:microsoft.com/office/officeart/2009/3/layout/StepUpProcess"/>
    <dgm:cxn modelId="{85B3FF52-CA91-4708-9D58-4C9F1C6A74C0}" type="presOf" srcId="{1AD2BBFF-3680-4C4B-B1B9-14E00C8603EE}" destId="{FFB56551-8718-487F-A8A0-217A843CA321}" srcOrd="0" destOrd="0" presId="urn:microsoft.com/office/officeart/2009/3/layout/StepUpProcess"/>
    <dgm:cxn modelId="{28088A93-7E45-46DB-9660-3C758C5FE7B0}" srcId="{1AD2BBFF-3680-4C4B-B1B9-14E00C8603EE}" destId="{519ED86E-46C6-4676-98D8-460F9F6474E8}" srcOrd="0" destOrd="0" parTransId="{06601361-7938-403B-ADDF-CD3C88539F3A}" sibTransId="{D2233C38-B53B-4D12-BF9D-599B42CE6955}"/>
    <dgm:cxn modelId="{244CC9DF-8947-4242-893B-247BCCECB102}" srcId="{1AD2BBFF-3680-4C4B-B1B9-14E00C8603EE}" destId="{78B3884E-00FD-4E93-9A16-18395518D1EA}" srcOrd="2" destOrd="0" parTransId="{105379A7-1378-4CEC-A39E-990972FD1DA7}" sibTransId="{1FEEDA28-067C-4E95-B141-4C67DE712ED7}"/>
    <dgm:cxn modelId="{03EC73F9-BF38-4D88-9BF9-793FE177EBAB}" type="presParOf" srcId="{FFB56551-8718-487F-A8A0-217A843CA321}" destId="{A75B9386-E4E3-4107-8683-02FBB140C42D}" srcOrd="0" destOrd="0" presId="urn:microsoft.com/office/officeart/2009/3/layout/StepUpProcess"/>
    <dgm:cxn modelId="{93F010D8-9252-450C-B213-11AE2E2C8B9B}" type="presParOf" srcId="{A75B9386-E4E3-4107-8683-02FBB140C42D}" destId="{69527FD1-40C6-4E55-A11B-F6133781A754}" srcOrd="0" destOrd="0" presId="urn:microsoft.com/office/officeart/2009/3/layout/StepUpProcess"/>
    <dgm:cxn modelId="{B5C8D553-5077-4E80-8D41-C84DC749D028}" type="presParOf" srcId="{A75B9386-E4E3-4107-8683-02FBB140C42D}" destId="{BFCFA4A0-2561-4D60-BF5E-C3303B3F0B06}" srcOrd="1" destOrd="0" presId="urn:microsoft.com/office/officeart/2009/3/layout/StepUpProcess"/>
    <dgm:cxn modelId="{A765210A-7B0A-4E51-9C47-8AA10B644C06}" type="presParOf" srcId="{A75B9386-E4E3-4107-8683-02FBB140C42D}" destId="{851E3E90-19C2-4415-AE07-E49F52089EF0}" srcOrd="2" destOrd="0" presId="urn:microsoft.com/office/officeart/2009/3/layout/StepUpProcess"/>
    <dgm:cxn modelId="{630E4744-921D-4F1B-A8CD-E6F8AD17C05A}" type="presParOf" srcId="{FFB56551-8718-487F-A8A0-217A843CA321}" destId="{ED5A876A-512F-48EE-BE66-C3C9089F853B}" srcOrd="1" destOrd="0" presId="urn:microsoft.com/office/officeart/2009/3/layout/StepUpProcess"/>
    <dgm:cxn modelId="{6AB0EEEA-BAE0-4E89-8493-CD88899F1129}" type="presParOf" srcId="{ED5A876A-512F-48EE-BE66-C3C9089F853B}" destId="{7B80FFAD-1345-4A67-A34E-4629D92F0E24}" srcOrd="0" destOrd="0" presId="urn:microsoft.com/office/officeart/2009/3/layout/StepUpProcess"/>
    <dgm:cxn modelId="{C329347D-8583-40D6-A5EF-A2BA59B5969B}" type="presParOf" srcId="{FFB56551-8718-487F-A8A0-217A843CA321}" destId="{1809298D-6B1A-498E-BB4E-09E91369DEAB}" srcOrd="2" destOrd="0" presId="urn:microsoft.com/office/officeart/2009/3/layout/StepUpProcess"/>
    <dgm:cxn modelId="{DFD3DC1D-8012-4582-AD49-1BB8E4804507}" type="presParOf" srcId="{1809298D-6B1A-498E-BB4E-09E91369DEAB}" destId="{BBD445AC-F09E-4D1B-84AE-644D94AB0AA4}" srcOrd="0" destOrd="0" presId="urn:microsoft.com/office/officeart/2009/3/layout/StepUpProcess"/>
    <dgm:cxn modelId="{EBD7DFA8-21E3-4870-A0FE-F21D1C28545D}" type="presParOf" srcId="{1809298D-6B1A-498E-BB4E-09E91369DEAB}" destId="{B5D5A48F-C936-47AA-A2A5-7DB8135BC282}" srcOrd="1" destOrd="0" presId="urn:microsoft.com/office/officeart/2009/3/layout/StepUpProcess"/>
    <dgm:cxn modelId="{F0362AFC-D0C8-41EE-B114-F1EEA9AE7B03}" type="presParOf" srcId="{1809298D-6B1A-498E-BB4E-09E91369DEAB}" destId="{4D6B8DAC-F4A5-4CF2-959C-17273ED6A7B5}" srcOrd="2" destOrd="0" presId="urn:microsoft.com/office/officeart/2009/3/layout/StepUpProcess"/>
    <dgm:cxn modelId="{3BE29333-3789-47F8-AE8F-E603EF92921D}" type="presParOf" srcId="{FFB56551-8718-487F-A8A0-217A843CA321}" destId="{6CE42B97-DA35-4814-B770-42AC989121F5}" srcOrd="3" destOrd="0" presId="urn:microsoft.com/office/officeart/2009/3/layout/StepUpProcess"/>
    <dgm:cxn modelId="{8D63FAFE-F8C1-45B3-AAD4-EB5E590723B4}" type="presParOf" srcId="{6CE42B97-DA35-4814-B770-42AC989121F5}" destId="{0DCB7DC6-8D28-4DBA-BE8D-FB88B5457183}" srcOrd="0" destOrd="0" presId="urn:microsoft.com/office/officeart/2009/3/layout/StepUpProcess"/>
    <dgm:cxn modelId="{DDAF484A-D8EB-4724-AC06-843EC4C8B1FF}" type="presParOf" srcId="{FFB56551-8718-487F-A8A0-217A843CA321}" destId="{27CA6906-A8C5-4129-93C7-9B8654837262}" srcOrd="4" destOrd="0" presId="urn:microsoft.com/office/officeart/2009/3/layout/StepUpProcess"/>
    <dgm:cxn modelId="{167AFB1B-06CC-43B9-8050-1197A803CEDB}" type="presParOf" srcId="{27CA6906-A8C5-4129-93C7-9B8654837262}" destId="{7C1AA815-39FE-4B6C-84C6-2E0654AE69BF}" srcOrd="0" destOrd="0" presId="urn:microsoft.com/office/officeart/2009/3/layout/StepUpProcess"/>
    <dgm:cxn modelId="{B44E8759-A545-4672-B54B-DFD16AD90138}" type="presParOf" srcId="{27CA6906-A8C5-4129-93C7-9B8654837262}" destId="{1F6B1AAB-E658-459B-90B9-2FC936FDFF3E}" srcOrd="1" destOrd="0" presId="urn:microsoft.com/office/officeart/2009/3/layout/StepUpProcess"/>
    <dgm:cxn modelId="{8B563F9E-FE33-4420-A003-3F6AFD060539}" type="presParOf" srcId="{27CA6906-A8C5-4129-93C7-9B8654837262}" destId="{CE67EDBB-FE94-4FB3-AF84-E6645676087D}" srcOrd="2" destOrd="0" presId="urn:microsoft.com/office/officeart/2009/3/layout/StepUpProcess"/>
    <dgm:cxn modelId="{57EF89C6-BCDD-4DE7-9A17-B3F7050AFD98}" type="presParOf" srcId="{FFB56551-8718-487F-A8A0-217A843CA321}" destId="{0A4DBFEF-D03D-4639-89DA-48BC45A18576}" srcOrd="5" destOrd="0" presId="urn:microsoft.com/office/officeart/2009/3/layout/StepUpProcess"/>
    <dgm:cxn modelId="{BC3E527D-38CD-4944-B2F2-5D570665E96D}" type="presParOf" srcId="{0A4DBFEF-D03D-4639-89DA-48BC45A18576}" destId="{6D77CEA5-28A8-4793-AB8D-D5B857E15B4C}" srcOrd="0" destOrd="0" presId="urn:microsoft.com/office/officeart/2009/3/layout/StepUpProcess"/>
    <dgm:cxn modelId="{68AAD96F-5381-4610-A7FF-7F10452479F7}" type="presParOf" srcId="{FFB56551-8718-487F-A8A0-217A843CA321}" destId="{6FE2F184-C9E6-4FD5-9E18-F90828473C4F}" srcOrd="6" destOrd="0" presId="urn:microsoft.com/office/officeart/2009/3/layout/StepUpProcess"/>
    <dgm:cxn modelId="{9DFBF6DA-26F8-4B3D-A5A4-5B069EA2187E}" type="presParOf" srcId="{6FE2F184-C9E6-4FD5-9E18-F90828473C4F}" destId="{87EAF7AC-2269-4374-8B8F-4C3ADC5FC321}" srcOrd="0" destOrd="0" presId="urn:microsoft.com/office/officeart/2009/3/layout/StepUpProcess"/>
    <dgm:cxn modelId="{C253925F-214A-489B-B1A1-83FF77BD75E2}" type="presParOf" srcId="{6FE2F184-C9E6-4FD5-9E18-F90828473C4F}" destId="{C974D6A0-B25E-4AA0-812C-B40C094E02CF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6DE171-F4A4-46EB-B90B-43B1E1AE156D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592FCD5-916C-437A-912A-571D1A32A986}">
      <dgm:prSet phldrT="[Text]" phldr="0"/>
      <dgm:spPr/>
      <dgm:t>
        <a:bodyPr/>
        <a:lstStyle/>
        <a:p>
          <a:r>
            <a:rPr lang="en-US" altLang="zh-CN" dirty="0"/>
            <a:t>ESPR-based Anchor</a:t>
          </a:r>
          <a:endParaRPr lang="en-US" altLang="zh-CN" b="0" dirty="0"/>
        </a:p>
      </dgm:t>
    </dgm:pt>
    <dgm:pt modelId="{0D912108-C65F-4C3A-8852-8918560E88D7}" type="parTrans" cxnId="{CF28FA31-5372-429E-A15B-14FA1DD088B3}">
      <dgm:prSet/>
      <dgm:spPr/>
      <dgm:t>
        <a:bodyPr/>
        <a:lstStyle/>
        <a:p>
          <a:endParaRPr lang="zh-CN" altLang="en-US"/>
        </a:p>
      </dgm:t>
    </dgm:pt>
    <dgm:pt modelId="{4843546A-E4F2-4E4A-904D-8D16F85C6AF9}" type="sibTrans" cxnId="{CF28FA31-5372-429E-A15B-14FA1DD088B3}">
      <dgm:prSet/>
      <dgm:spPr/>
      <dgm:t>
        <a:bodyPr/>
        <a:lstStyle/>
        <a:p>
          <a:endParaRPr lang="zh-CN" altLang="en-US"/>
        </a:p>
      </dgm:t>
    </dgm:pt>
    <dgm:pt modelId="{932D7D63-20DD-4B99-AF38-40B9E7F6711C}">
      <dgm:prSet phldrT="[Text]" phldr="0"/>
      <dgm:spPr/>
      <dgm:t>
        <a:bodyPr/>
        <a:lstStyle/>
        <a:p>
          <a:r>
            <a:rPr lang="en-US" altLang="zh-CN" dirty="0"/>
            <a:t>Add Lag Information</a:t>
          </a:r>
          <a:endParaRPr lang="en-US" altLang="zh-CN" b="0" dirty="0"/>
        </a:p>
      </dgm:t>
    </dgm:pt>
    <dgm:pt modelId="{757A9E2C-1A21-4DEB-AF85-3E9AAAA50772}" type="parTrans" cxnId="{A6A25E1A-4567-4ADE-AB6D-F94D7E68DDE4}">
      <dgm:prSet/>
      <dgm:spPr/>
      <dgm:t>
        <a:bodyPr/>
        <a:lstStyle/>
        <a:p>
          <a:endParaRPr lang="zh-CN" altLang="en-US"/>
        </a:p>
      </dgm:t>
    </dgm:pt>
    <dgm:pt modelId="{B2300A11-5E6D-46C2-9336-F678B7C76DD6}" type="sibTrans" cxnId="{A6A25E1A-4567-4ADE-AB6D-F94D7E68DDE4}">
      <dgm:prSet/>
      <dgm:spPr/>
      <dgm:t>
        <a:bodyPr/>
        <a:lstStyle/>
        <a:p>
          <a:endParaRPr lang="zh-CN" altLang="en-US"/>
        </a:p>
      </dgm:t>
    </dgm:pt>
    <dgm:pt modelId="{CC0A503C-9821-4417-A003-3EA0AD54FB92}">
      <dgm:prSet phldrT="[Text]" phldr="0"/>
      <dgm:spPr/>
      <dgm:t>
        <a:bodyPr/>
        <a:lstStyle/>
        <a:p>
          <a:r>
            <a:rPr lang="en-US" altLang="zh-CN" dirty="0"/>
            <a:t>Apply Smoothing</a:t>
          </a:r>
          <a:endParaRPr lang="zh-CN" altLang="en-US" dirty="0"/>
        </a:p>
      </dgm:t>
    </dgm:pt>
    <dgm:pt modelId="{217E8FB1-DBF7-4C13-9ACC-DFBD7C0A2284}" type="parTrans" cxnId="{9EFAA74C-84EA-4A0D-89C2-CE766959BB4E}">
      <dgm:prSet/>
      <dgm:spPr/>
      <dgm:t>
        <a:bodyPr/>
        <a:lstStyle/>
        <a:p>
          <a:endParaRPr lang="zh-CN" altLang="en-US"/>
        </a:p>
      </dgm:t>
    </dgm:pt>
    <dgm:pt modelId="{6FE22A07-FC3B-48A8-ADBA-CD840F825FE5}" type="sibTrans" cxnId="{9EFAA74C-84EA-4A0D-89C2-CE766959BB4E}">
      <dgm:prSet/>
      <dgm:spPr/>
      <dgm:t>
        <a:bodyPr/>
        <a:lstStyle/>
        <a:p>
          <a:endParaRPr lang="zh-CN" altLang="en-US"/>
        </a:p>
      </dgm:t>
    </dgm:pt>
    <dgm:pt modelId="{0EB776C3-9F1E-40C5-8094-4B544449E236}">
      <dgm:prSet phldrT="[Text]" phldr="0"/>
      <dgm:spPr/>
      <dgm:t>
        <a:bodyPr/>
        <a:lstStyle/>
        <a:p>
          <a:r>
            <a:rPr lang="en-US" altLang="zh-CN" dirty="0"/>
            <a:t>Ensure Value Safety (&gt; 0)</a:t>
          </a:r>
          <a:endParaRPr lang="zh-CN" altLang="en-US" dirty="0"/>
        </a:p>
      </dgm:t>
    </dgm:pt>
    <dgm:pt modelId="{B31B1228-914A-4EAE-AC8A-4A1769C7C5E2}" type="parTrans" cxnId="{31000530-04E1-41ED-8D1C-774C14E70798}">
      <dgm:prSet/>
      <dgm:spPr/>
      <dgm:t>
        <a:bodyPr/>
        <a:lstStyle/>
        <a:p>
          <a:endParaRPr lang="zh-CN" altLang="en-US"/>
        </a:p>
      </dgm:t>
    </dgm:pt>
    <dgm:pt modelId="{D8C9731F-1676-4A23-98E4-91DAF38C9543}" type="sibTrans" cxnId="{31000530-04E1-41ED-8D1C-774C14E70798}">
      <dgm:prSet/>
      <dgm:spPr/>
      <dgm:t>
        <a:bodyPr/>
        <a:lstStyle/>
        <a:p>
          <a:endParaRPr lang="zh-CN" altLang="en-US"/>
        </a:p>
      </dgm:t>
    </dgm:pt>
    <dgm:pt modelId="{D099BFEA-2679-4626-8D06-66D61EAD2CF8}" type="pres">
      <dgm:prSet presAssocID="{4D6DE171-F4A4-46EB-B90B-43B1E1AE156D}" presName="diagram" presStyleCnt="0">
        <dgm:presLayoutVars>
          <dgm:dir/>
          <dgm:resizeHandles val="exact"/>
        </dgm:presLayoutVars>
      </dgm:prSet>
      <dgm:spPr/>
    </dgm:pt>
    <dgm:pt modelId="{CEE464C9-0ABE-4B61-9B02-235A5A24B9CF}" type="pres">
      <dgm:prSet presAssocID="{6592FCD5-916C-437A-912A-571D1A32A986}" presName="node" presStyleLbl="node1" presStyleIdx="0" presStyleCnt="4">
        <dgm:presLayoutVars>
          <dgm:bulletEnabled val="1"/>
        </dgm:presLayoutVars>
      </dgm:prSet>
      <dgm:spPr/>
    </dgm:pt>
    <dgm:pt modelId="{BAA20030-ECF7-4AA7-A618-AC6DD70882E7}" type="pres">
      <dgm:prSet presAssocID="{4843546A-E4F2-4E4A-904D-8D16F85C6AF9}" presName="sibTrans" presStyleLbl="sibTrans2D1" presStyleIdx="0" presStyleCnt="3"/>
      <dgm:spPr/>
    </dgm:pt>
    <dgm:pt modelId="{BD1F03A6-1E22-43A4-8ADF-F945321C1AD1}" type="pres">
      <dgm:prSet presAssocID="{4843546A-E4F2-4E4A-904D-8D16F85C6AF9}" presName="connectorText" presStyleLbl="sibTrans2D1" presStyleIdx="0" presStyleCnt="3"/>
      <dgm:spPr/>
    </dgm:pt>
    <dgm:pt modelId="{E634F90B-F8FE-4A5A-A41F-8F7A129455C2}" type="pres">
      <dgm:prSet presAssocID="{932D7D63-20DD-4B99-AF38-40B9E7F6711C}" presName="node" presStyleLbl="node1" presStyleIdx="1" presStyleCnt="4">
        <dgm:presLayoutVars>
          <dgm:bulletEnabled val="1"/>
        </dgm:presLayoutVars>
      </dgm:prSet>
      <dgm:spPr/>
    </dgm:pt>
    <dgm:pt modelId="{FA7BBE4A-5AB0-42FA-B29D-1C8DC83A8FC8}" type="pres">
      <dgm:prSet presAssocID="{B2300A11-5E6D-46C2-9336-F678B7C76DD6}" presName="sibTrans" presStyleLbl="sibTrans2D1" presStyleIdx="1" presStyleCnt="3"/>
      <dgm:spPr/>
    </dgm:pt>
    <dgm:pt modelId="{061C671A-8B3C-4198-8D25-BBA156C82489}" type="pres">
      <dgm:prSet presAssocID="{B2300A11-5E6D-46C2-9336-F678B7C76DD6}" presName="connectorText" presStyleLbl="sibTrans2D1" presStyleIdx="1" presStyleCnt="3"/>
      <dgm:spPr/>
    </dgm:pt>
    <dgm:pt modelId="{B3812193-A063-454B-B78C-D57C01349759}" type="pres">
      <dgm:prSet presAssocID="{CC0A503C-9821-4417-A003-3EA0AD54FB92}" presName="node" presStyleLbl="node1" presStyleIdx="2" presStyleCnt="4">
        <dgm:presLayoutVars>
          <dgm:bulletEnabled val="1"/>
        </dgm:presLayoutVars>
      </dgm:prSet>
      <dgm:spPr/>
    </dgm:pt>
    <dgm:pt modelId="{13FCA472-9D50-423B-B138-D14B1EC7AA0F}" type="pres">
      <dgm:prSet presAssocID="{6FE22A07-FC3B-48A8-ADBA-CD840F825FE5}" presName="sibTrans" presStyleLbl="sibTrans2D1" presStyleIdx="2" presStyleCnt="3"/>
      <dgm:spPr/>
    </dgm:pt>
    <dgm:pt modelId="{621070D9-36B0-4FE1-89E4-B8175FBB065F}" type="pres">
      <dgm:prSet presAssocID="{6FE22A07-FC3B-48A8-ADBA-CD840F825FE5}" presName="connectorText" presStyleLbl="sibTrans2D1" presStyleIdx="2" presStyleCnt="3"/>
      <dgm:spPr/>
    </dgm:pt>
    <dgm:pt modelId="{28A012FB-ABE5-4A0F-9902-7B4E46FE8990}" type="pres">
      <dgm:prSet presAssocID="{0EB776C3-9F1E-40C5-8094-4B544449E236}" presName="node" presStyleLbl="node1" presStyleIdx="3" presStyleCnt="4">
        <dgm:presLayoutVars>
          <dgm:bulletEnabled val="1"/>
        </dgm:presLayoutVars>
      </dgm:prSet>
      <dgm:spPr/>
    </dgm:pt>
  </dgm:ptLst>
  <dgm:cxnLst>
    <dgm:cxn modelId="{A6A25E1A-4567-4ADE-AB6D-F94D7E68DDE4}" srcId="{4D6DE171-F4A4-46EB-B90B-43B1E1AE156D}" destId="{932D7D63-20DD-4B99-AF38-40B9E7F6711C}" srcOrd="1" destOrd="0" parTransId="{757A9E2C-1A21-4DEB-AF85-3E9AAAA50772}" sibTransId="{B2300A11-5E6D-46C2-9336-F678B7C76DD6}"/>
    <dgm:cxn modelId="{0BD8B01C-78CA-4952-8755-F0644D23475B}" type="presOf" srcId="{CC0A503C-9821-4417-A003-3EA0AD54FB92}" destId="{B3812193-A063-454B-B78C-D57C01349759}" srcOrd="0" destOrd="0" presId="urn:microsoft.com/office/officeart/2005/8/layout/process5"/>
    <dgm:cxn modelId="{31000530-04E1-41ED-8D1C-774C14E70798}" srcId="{4D6DE171-F4A4-46EB-B90B-43B1E1AE156D}" destId="{0EB776C3-9F1E-40C5-8094-4B544449E236}" srcOrd="3" destOrd="0" parTransId="{B31B1228-914A-4EAE-AC8A-4A1769C7C5E2}" sibTransId="{D8C9731F-1676-4A23-98E4-91DAF38C9543}"/>
    <dgm:cxn modelId="{5452FE30-B4CA-4941-9997-265DD7A9F7BA}" type="presOf" srcId="{4D6DE171-F4A4-46EB-B90B-43B1E1AE156D}" destId="{D099BFEA-2679-4626-8D06-66D61EAD2CF8}" srcOrd="0" destOrd="0" presId="urn:microsoft.com/office/officeart/2005/8/layout/process5"/>
    <dgm:cxn modelId="{CF28FA31-5372-429E-A15B-14FA1DD088B3}" srcId="{4D6DE171-F4A4-46EB-B90B-43B1E1AE156D}" destId="{6592FCD5-916C-437A-912A-571D1A32A986}" srcOrd="0" destOrd="0" parTransId="{0D912108-C65F-4C3A-8852-8918560E88D7}" sibTransId="{4843546A-E4F2-4E4A-904D-8D16F85C6AF9}"/>
    <dgm:cxn modelId="{E812FA33-D54A-4E3D-8F12-30FE6820E143}" type="presOf" srcId="{B2300A11-5E6D-46C2-9336-F678B7C76DD6}" destId="{061C671A-8B3C-4198-8D25-BBA156C82489}" srcOrd="1" destOrd="0" presId="urn:microsoft.com/office/officeart/2005/8/layout/process5"/>
    <dgm:cxn modelId="{664B123B-0BF8-4211-A502-6B3634986759}" type="presOf" srcId="{932D7D63-20DD-4B99-AF38-40B9E7F6711C}" destId="{E634F90B-F8FE-4A5A-A41F-8F7A129455C2}" srcOrd="0" destOrd="0" presId="urn:microsoft.com/office/officeart/2005/8/layout/process5"/>
    <dgm:cxn modelId="{0256B944-BC29-430D-A7D6-A81C333F14F3}" type="presOf" srcId="{6FE22A07-FC3B-48A8-ADBA-CD840F825FE5}" destId="{621070D9-36B0-4FE1-89E4-B8175FBB065F}" srcOrd="1" destOrd="0" presId="urn:microsoft.com/office/officeart/2005/8/layout/process5"/>
    <dgm:cxn modelId="{BA801B4A-68DC-48B9-95FC-84450660AD62}" type="presOf" srcId="{4843546A-E4F2-4E4A-904D-8D16F85C6AF9}" destId="{BD1F03A6-1E22-43A4-8ADF-F945321C1AD1}" srcOrd="1" destOrd="0" presId="urn:microsoft.com/office/officeart/2005/8/layout/process5"/>
    <dgm:cxn modelId="{9EFAA74C-84EA-4A0D-89C2-CE766959BB4E}" srcId="{4D6DE171-F4A4-46EB-B90B-43B1E1AE156D}" destId="{CC0A503C-9821-4417-A003-3EA0AD54FB92}" srcOrd="2" destOrd="0" parTransId="{217E8FB1-DBF7-4C13-9ACC-DFBD7C0A2284}" sibTransId="{6FE22A07-FC3B-48A8-ADBA-CD840F825FE5}"/>
    <dgm:cxn modelId="{6E2BBE77-DA1B-45C4-809B-1BF13F489D79}" type="presOf" srcId="{0EB776C3-9F1E-40C5-8094-4B544449E236}" destId="{28A012FB-ABE5-4A0F-9902-7B4E46FE8990}" srcOrd="0" destOrd="0" presId="urn:microsoft.com/office/officeart/2005/8/layout/process5"/>
    <dgm:cxn modelId="{E9EF189B-1C69-46A8-9972-7ACBA969ED58}" type="presOf" srcId="{6FE22A07-FC3B-48A8-ADBA-CD840F825FE5}" destId="{13FCA472-9D50-423B-B138-D14B1EC7AA0F}" srcOrd="0" destOrd="0" presId="urn:microsoft.com/office/officeart/2005/8/layout/process5"/>
    <dgm:cxn modelId="{30CBC2EC-7A20-4F24-A861-1D16FE2DDBEC}" type="presOf" srcId="{6592FCD5-916C-437A-912A-571D1A32A986}" destId="{CEE464C9-0ABE-4B61-9B02-235A5A24B9CF}" srcOrd="0" destOrd="0" presId="urn:microsoft.com/office/officeart/2005/8/layout/process5"/>
    <dgm:cxn modelId="{1D3A87FE-F23C-41E8-898C-B344BD6EE993}" type="presOf" srcId="{4843546A-E4F2-4E4A-904D-8D16F85C6AF9}" destId="{BAA20030-ECF7-4AA7-A618-AC6DD70882E7}" srcOrd="0" destOrd="0" presId="urn:microsoft.com/office/officeart/2005/8/layout/process5"/>
    <dgm:cxn modelId="{843EFAFF-8941-43DE-80FE-E36FA23FA5E5}" type="presOf" srcId="{B2300A11-5E6D-46C2-9336-F678B7C76DD6}" destId="{FA7BBE4A-5AB0-42FA-B29D-1C8DC83A8FC8}" srcOrd="0" destOrd="0" presId="urn:microsoft.com/office/officeart/2005/8/layout/process5"/>
    <dgm:cxn modelId="{A24942CC-DFE3-42CB-9A2A-8431D4A47F2D}" type="presParOf" srcId="{D099BFEA-2679-4626-8D06-66D61EAD2CF8}" destId="{CEE464C9-0ABE-4B61-9B02-235A5A24B9CF}" srcOrd="0" destOrd="0" presId="urn:microsoft.com/office/officeart/2005/8/layout/process5"/>
    <dgm:cxn modelId="{DBAD85F9-7748-4BA1-A4BF-AB72BBAD99B1}" type="presParOf" srcId="{D099BFEA-2679-4626-8D06-66D61EAD2CF8}" destId="{BAA20030-ECF7-4AA7-A618-AC6DD70882E7}" srcOrd="1" destOrd="0" presId="urn:microsoft.com/office/officeart/2005/8/layout/process5"/>
    <dgm:cxn modelId="{AA0E4BAF-ED01-4260-8562-7FF47D2A1A57}" type="presParOf" srcId="{BAA20030-ECF7-4AA7-A618-AC6DD70882E7}" destId="{BD1F03A6-1E22-43A4-8ADF-F945321C1AD1}" srcOrd="0" destOrd="0" presId="urn:microsoft.com/office/officeart/2005/8/layout/process5"/>
    <dgm:cxn modelId="{B51BA083-77BE-472F-B05C-C36172183E2F}" type="presParOf" srcId="{D099BFEA-2679-4626-8D06-66D61EAD2CF8}" destId="{E634F90B-F8FE-4A5A-A41F-8F7A129455C2}" srcOrd="2" destOrd="0" presId="urn:microsoft.com/office/officeart/2005/8/layout/process5"/>
    <dgm:cxn modelId="{530A22B6-CDE2-4450-8DD9-4AA0F9D58557}" type="presParOf" srcId="{D099BFEA-2679-4626-8D06-66D61EAD2CF8}" destId="{FA7BBE4A-5AB0-42FA-B29D-1C8DC83A8FC8}" srcOrd="3" destOrd="0" presId="urn:microsoft.com/office/officeart/2005/8/layout/process5"/>
    <dgm:cxn modelId="{5086D987-9648-43FF-B32E-DD25A35F4B28}" type="presParOf" srcId="{FA7BBE4A-5AB0-42FA-B29D-1C8DC83A8FC8}" destId="{061C671A-8B3C-4198-8D25-BBA156C82489}" srcOrd="0" destOrd="0" presId="urn:microsoft.com/office/officeart/2005/8/layout/process5"/>
    <dgm:cxn modelId="{05FDD408-7063-4598-B45F-DE50A2CA6328}" type="presParOf" srcId="{D099BFEA-2679-4626-8D06-66D61EAD2CF8}" destId="{B3812193-A063-454B-B78C-D57C01349759}" srcOrd="4" destOrd="0" presId="urn:microsoft.com/office/officeart/2005/8/layout/process5"/>
    <dgm:cxn modelId="{2623F690-D226-4C17-8A5E-6609738A041E}" type="presParOf" srcId="{D099BFEA-2679-4626-8D06-66D61EAD2CF8}" destId="{13FCA472-9D50-423B-B138-D14B1EC7AA0F}" srcOrd="5" destOrd="0" presId="urn:microsoft.com/office/officeart/2005/8/layout/process5"/>
    <dgm:cxn modelId="{A66D3880-8DA8-4884-9BD7-8B24744C4104}" type="presParOf" srcId="{13FCA472-9D50-423B-B138-D14B1EC7AA0F}" destId="{621070D9-36B0-4FE1-89E4-B8175FBB065F}" srcOrd="0" destOrd="0" presId="urn:microsoft.com/office/officeart/2005/8/layout/process5"/>
    <dgm:cxn modelId="{28A8525A-B20F-4D60-A07A-09477C6BFAFA}" type="presParOf" srcId="{D099BFEA-2679-4626-8D06-66D61EAD2CF8}" destId="{28A012FB-ABE5-4A0F-9902-7B4E46FE8990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55FDF42-88B5-4A7D-BE62-8121EE190D7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02072E7-6E14-4921-9354-024637894D05}">
      <dgm:prSet phldrT="[Text]" phldr="0"/>
      <dgm:spPr/>
      <dgm:t>
        <a:bodyPr/>
        <a:lstStyle/>
        <a:p>
          <a:r>
            <a:rPr lang="en-US" altLang="zh-CN" dirty="0"/>
            <a:t>Randomly mask known values.</a:t>
          </a:r>
          <a:endParaRPr lang="zh-CN" altLang="en-US" dirty="0"/>
        </a:p>
      </dgm:t>
    </dgm:pt>
    <dgm:pt modelId="{89564EF3-8AAF-4E62-AC62-9A65886B3828}" type="parTrans" cxnId="{5F61580B-79A2-4BBE-87E8-9222C099D163}">
      <dgm:prSet/>
      <dgm:spPr/>
      <dgm:t>
        <a:bodyPr/>
        <a:lstStyle/>
        <a:p>
          <a:endParaRPr lang="zh-CN" altLang="en-US"/>
        </a:p>
      </dgm:t>
    </dgm:pt>
    <dgm:pt modelId="{195E2808-5A4B-44D0-B32F-F188B623532B}" type="sibTrans" cxnId="{5F61580B-79A2-4BBE-87E8-9222C099D163}">
      <dgm:prSet/>
      <dgm:spPr/>
      <dgm:t>
        <a:bodyPr/>
        <a:lstStyle/>
        <a:p>
          <a:endParaRPr lang="zh-CN" altLang="en-US"/>
        </a:p>
      </dgm:t>
    </dgm:pt>
    <dgm:pt modelId="{CE82D411-2D09-4BE1-81B0-7560740ACD00}">
      <dgm:prSet phldrT="[Text]" phldr="0"/>
      <dgm:spPr/>
      <dgm:t>
        <a:bodyPr/>
        <a:lstStyle/>
        <a:p>
          <a:r>
            <a:rPr lang="en-US" altLang="zh-CN" dirty="0"/>
            <a:t>Train on unmasked values and evaluate.</a:t>
          </a:r>
          <a:endParaRPr lang="zh-CN" altLang="en-US" dirty="0"/>
        </a:p>
      </dgm:t>
    </dgm:pt>
    <dgm:pt modelId="{CC683FE2-C3A0-47AF-BFEC-FE09FB7E0C17}" type="parTrans" cxnId="{21F83439-6577-4168-91BF-0E57A5D55D4A}">
      <dgm:prSet/>
      <dgm:spPr/>
      <dgm:t>
        <a:bodyPr/>
        <a:lstStyle/>
        <a:p>
          <a:endParaRPr lang="zh-CN" altLang="en-US"/>
        </a:p>
      </dgm:t>
    </dgm:pt>
    <dgm:pt modelId="{1C6EE5EE-4EE3-470E-8BC7-CDAF37808420}" type="sibTrans" cxnId="{21F83439-6577-4168-91BF-0E57A5D55D4A}">
      <dgm:prSet/>
      <dgm:spPr/>
      <dgm:t>
        <a:bodyPr/>
        <a:lstStyle/>
        <a:p>
          <a:endParaRPr lang="zh-CN" altLang="en-US"/>
        </a:p>
      </dgm:t>
    </dgm:pt>
    <dgm:pt modelId="{A5D73475-33E1-423A-B9B6-AB71DB80A841}">
      <dgm:prSet phldrT="[Text]" phldr="0"/>
      <dgm:spPr/>
      <dgm:t>
        <a:bodyPr/>
        <a:lstStyle/>
        <a:p>
          <a:r>
            <a:rPr lang="en-US" altLang="zh-CN" dirty="0"/>
            <a:t>Repeat the test multiple times.</a:t>
          </a:r>
          <a:endParaRPr lang="zh-CN" altLang="en-US" dirty="0"/>
        </a:p>
      </dgm:t>
    </dgm:pt>
    <dgm:pt modelId="{DAE10B1B-FDB8-4800-AE77-FCC23E2456AC}" type="parTrans" cxnId="{DA91CD39-1C9C-4758-AC00-94E20F831908}">
      <dgm:prSet/>
      <dgm:spPr/>
      <dgm:t>
        <a:bodyPr/>
        <a:lstStyle/>
        <a:p>
          <a:endParaRPr lang="zh-CN" altLang="en-US"/>
        </a:p>
      </dgm:t>
    </dgm:pt>
    <dgm:pt modelId="{23FB516D-4D9C-4AEB-87E9-93A21E8A593A}" type="sibTrans" cxnId="{DA91CD39-1C9C-4758-AC00-94E20F831908}">
      <dgm:prSet/>
      <dgm:spPr/>
      <dgm:t>
        <a:bodyPr/>
        <a:lstStyle/>
        <a:p>
          <a:endParaRPr lang="zh-CN" altLang="en-US"/>
        </a:p>
      </dgm:t>
    </dgm:pt>
    <dgm:pt modelId="{25782543-2974-46FB-AD62-3E10C2A41684}">
      <dgm:prSet/>
      <dgm:spPr/>
      <dgm:t>
        <a:bodyPr/>
        <a:lstStyle/>
        <a:p>
          <a:r>
            <a:rPr lang="en-US" altLang="zh-CN" dirty="0"/>
            <a:t>Study the distribution of errors.</a:t>
          </a:r>
          <a:endParaRPr lang="zh-CN" altLang="en-US" dirty="0"/>
        </a:p>
      </dgm:t>
    </dgm:pt>
    <dgm:pt modelId="{22A14C36-D9EC-416C-8BD4-BEE8E37999C6}" type="parTrans" cxnId="{F85D63E3-5B02-4DA6-94FD-62BBB37C5B18}">
      <dgm:prSet/>
      <dgm:spPr/>
      <dgm:t>
        <a:bodyPr/>
        <a:lstStyle/>
        <a:p>
          <a:endParaRPr lang="zh-CN" altLang="en-US"/>
        </a:p>
      </dgm:t>
    </dgm:pt>
    <dgm:pt modelId="{5DDDF8F0-1285-4417-B297-108FE108088E}" type="sibTrans" cxnId="{F85D63E3-5B02-4DA6-94FD-62BBB37C5B18}">
      <dgm:prSet/>
      <dgm:spPr/>
      <dgm:t>
        <a:bodyPr/>
        <a:lstStyle/>
        <a:p>
          <a:endParaRPr lang="zh-CN" altLang="en-US"/>
        </a:p>
      </dgm:t>
    </dgm:pt>
    <dgm:pt modelId="{2C34857A-4708-4DA5-A1B1-BFBF1D77E955}">
      <dgm:prSet/>
      <dgm:spPr/>
      <dgm:t>
        <a:bodyPr/>
        <a:lstStyle/>
        <a:p>
          <a:r>
            <a:rPr lang="en-US" altLang="zh-CN" dirty="0"/>
            <a:t>Choose the most robust method.</a:t>
          </a:r>
          <a:endParaRPr lang="zh-CN" altLang="en-US" dirty="0"/>
        </a:p>
      </dgm:t>
    </dgm:pt>
    <dgm:pt modelId="{1FAD2953-A432-422A-8F33-F531C909B107}" type="parTrans" cxnId="{54E271A3-2146-42AE-B647-36C5C51724B2}">
      <dgm:prSet/>
      <dgm:spPr/>
      <dgm:t>
        <a:bodyPr/>
        <a:lstStyle/>
        <a:p>
          <a:endParaRPr lang="zh-CN" altLang="en-US"/>
        </a:p>
      </dgm:t>
    </dgm:pt>
    <dgm:pt modelId="{8161B621-7DB4-4F26-9718-0A001A0A4F47}" type="sibTrans" cxnId="{54E271A3-2146-42AE-B647-36C5C51724B2}">
      <dgm:prSet/>
      <dgm:spPr/>
      <dgm:t>
        <a:bodyPr/>
        <a:lstStyle/>
        <a:p>
          <a:endParaRPr lang="zh-CN" altLang="en-US"/>
        </a:p>
      </dgm:t>
    </dgm:pt>
    <dgm:pt modelId="{271DB2A1-841A-4F1C-94BB-B1DD646B6C00}">
      <dgm:prSet/>
      <dgm:spPr/>
      <dgm:t>
        <a:bodyPr/>
        <a:lstStyle/>
        <a:p>
          <a:r>
            <a:rPr lang="en-US" altLang="zh-CN" dirty="0"/>
            <a:t>Lag-Hier Nowcast appear to be the best.</a:t>
          </a:r>
          <a:endParaRPr lang="zh-CN" altLang="en-US" dirty="0"/>
        </a:p>
      </dgm:t>
    </dgm:pt>
    <dgm:pt modelId="{8E93F204-6EA3-44D6-BFD3-C0541CFABCAA}" type="parTrans" cxnId="{FAA417F9-1B91-4190-8D96-4F4BEC3C9387}">
      <dgm:prSet/>
      <dgm:spPr/>
      <dgm:t>
        <a:bodyPr/>
        <a:lstStyle/>
        <a:p>
          <a:endParaRPr lang="zh-CN" altLang="en-US"/>
        </a:p>
      </dgm:t>
    </dgm:pt>
    <dgm:pt modelId="{DAB49BED-B330-4B4B-B26A-682CC5F6A4DC}" type="sibTrans" cxnId="{FAA417F9-1B91-4190-8D96-4F4BEC3C9387}">
      <dgm:prSet/>
      <dgm:spPr/>
      <dgm:t>
        <a:bodyPr/>
        <a:lstStyle/>
        <a:p>
          <a:endParaRPr lang="zh-CN" altLang="en-US"/>
        </a:p>
      </dgm:t>
    </dgm:pt>
    <dgm:pt modelId="{809D0FB0-9E6E-495B-8861-2A336DCFEFA8}" type="pres">
      <dgm:prSet presAssocID="{155FDF42-88B5-4A7D-BE62-8121EE190D74}" presName="Name0" presStyleCnt="0">
        <dgm:presLayoutVars>
          <dgm:dir/>
          <dgm:resizeHandles val="exact"/>
        </dgm:presLayoutVars>
      </dgm:prSet>
      <dgm:spPr/>
    </dgm:pt>
    <dgm:pt modelId="{0479C129-88A4-4EDB-9F45-1EFFAC0A307A}" type="pres">
      <dgm:prSet presAssocID="{302072E7-6E14-4921-9354-024637894D05}" presName="node" presStyleLbl="node1" presStyleIdx="0" presStyleCnt="6">
        <dgm:presLayoutVars>
          <dgm:bulletEnabled val="1"/>
        </dgm:presLayoutVars>
      </dgm:prSet>
      <dgm:spPr/>
    </dgm:pt>
    <dgm:pt modelId="{6C8EA7E7-1D46-4408-8A3E-72DB7E9A2740}" type="pres">
      <dgm:prSet presAssocID="{195E2808-5A4B-44D0-B32F-F188B623532B}" presName="sibTrans" presStyleLbl="sibTrans2D1" presStyleIdx="0" presStyleCnt="5"/>
      <dgm:spPr/>
    </dgm:pt>
    <dgm:pt modelId="{3B6721A0-8268-4078-B1DB-47E315B59323}" type="pres">
      <dgm:prSet presAssocID="{195E2808-5A4B-44D0-B32F-F188B623532B}" presName="connectorText" presStyleLbl="sibTrans2D1" presStyleIdx="0" presStyleCnt="5"/>
      <dgm:spPr/>
    </dgm:pt>
    <dgm:pt modelId="{28AAEED4-CB9A-428C-BA84-6CE89F7944DD}" type="pres">
      <dgm:prSet presAssocID="{CE82D411-2D09-4BE1-81B0-7560740ACD00}" presName="node" presStyleLbl="node1" presStyleIdx="1" presStyleCnt="6">
        <dgm:presLayoutVars>
          <dgm:bulletEnabled val="1"/>
        </dgm:presLayoutVars>
      </dgm:prSet>
      <dgm:spPr/>
    </dgm:pt>
    <dgm:pt modelId="{E91A892D-03A8-465A-B47E-1765123C5B2A}" type="pres">
      <dgm:prSet presAssocID="{1C6EE5EE-4EE3-470E-8BC7-CDAF37808420}" presName="sibTrans" presStyleLbl="sibTrans2D1" presStyleIdx="1" presStyleCnt="5"/>
      <dgm:spPr/>
    </dgm:pt>
    <dgm:pt modelId="{98EBEC9F-F129-4E81-BBAA-C4C591FC42ED}" type="pres">
      <dgm:prSet presAssocID="{1C6EE5EE-4EE3-470E-8BC7-CDAF37808420}" presName="connectorText" presStyleLbl="sibTrans2D1" presStyleIdx="1" presStyleCnt="5"/>
      <dgm:spPr/>
    </dgm:pt>
    <dgm:pt modelId="{77B17987-795E-4209-BD51-0994472D5A13}" type="pres">
      <dgm:prSet presAssocID="{A5D73475-33E1-423A-B9B6-AB71DB80A841}" presName="node" presStyleLbl="node1" presStyleIdx="2" presStyleCnt="6">
        <dgm:presLayoutVars>
          <dgm:bulletEnabled val="1"/>
        </dgm:presLayoutVars>
      </dgm:prSet>
      <dgm:spPr/>
    </dgm:pt>
    <dgm:pt modelId="{E76331B8-8335-49E1-9595-4ED63E005F67}" type="pres">
      <dgm:prSet presAssocID="{23FB516D-4D9C-4AEB-87E9-93A21E8A593A}" presName="sibTrans" presStyleLbl="sibTrans2D1" presStyleIdx="2" presStyleCnt="5"/>
      <dgm:spPr/>
    </dgm:pt>
    <dgm:pt modelId="{870C140F-E4CC-4AF5-9B8C-92C0222A6AF2}" type="pres">
      <dgm:prSet presAssocID="{23FB516D-4D9C-4AEB-87E9-93A21E8A593A}" presName="connectorText" presStyleLbl="sibTrans2D1" presStyleIdx="2" presStyleCnt="5"/>
      <dgm:spPr/>
    </dgm:pt>
    <dgm:pt modelId="{D3DF9C95-82E9-41E2-8663-078F550ED681}" type="pres">
      <dgm:prSet presAssocID="{25782543-2974-46FB-AD62-3E10C2A41684}" presName="node" presStyleLbl="node1" presStyleIdx="3" presStyleCnt="6">
        <dgm:presLayoutVars>
          <dgm:bulletEnabled val="1"/>
        </dgm:presLayoutVars>
      </dgm:prSet>
      <dgm:spPr/>
    </dgm:pt>
    <dgm:pt modelId="{24198794-3CF1-441E-9E58-87E9570C1F2F}" type="pres">
      <dgm:prSet presAssocID="{5DDDF8F0-1285-4417-B297-108FE108088E}" presName="sibTrans" presStyleLbl="sibTrans2D1" presStyleIdx="3" presStyleCnt="5"/>
      <dgm:spPr/>
    </dgm:pt>
    <dgm:pt modelId="{5674BF93-B337-4A4E-A1D4-4AE8414D9CEB}" type="pres">
      <dgm:prSet presAssocID="{5DDDF8F0-1285-4417-B297-108FE108088E}" presName="connectorText" presStyleLbl="sibTrans2D1" presStyleIdx="3" presStyleCnt="5"/>
      <dgm:spPr/>
    </dgm:pt>
    <dgm:pt modelId="{BE1E27DD-0B7B-40AF-BCC6-BA4CA01E5B46}" type="pres">
      <dgm:prSet presAssocID="{2C34857A-4708-4DA5-A1B1-BFBF1D77E955}" presName="node" presStyleLbl="node1" presStyleIdx="4" presStyleCnt="6">
        <dgm:presLayoutVars>
          <dgm:bulletEnabled val="1"/>
        </dgm:presLayoutVars>
      </dgm:prSet>
      <dgm:spPr/>
    </dgm:pt>
    <dgm:pt modelId="{026403DE-205A-48ED-B9B6-265948C253B2}" type="pres">
      <dgm:prSet presAssocID="{8161B621-7DB4-4F26-9718-0A001A0A4F47}" presName="sibTrans" presStyleLbl="sibTrans2D1" presStyleIdx="4" presStyleCnt="5"/>
      <dgm:spPr/>
    </dgm:pt>
    <dgm:pt modelId="{C698A90B-82AA-4D20-BF73-78764DFD2D59}" type="pres">
      <dgm:prSet presAssocID="{8161B621-7DB4-4F26-9718-0A001A0A4F47}" presName="connectorText" presStyleLbl="sibTrans2D1" presStyleIdx="4" presStyleCnt="5"/>
      <dgm:spPr/>
    </dgm:pt>
    <dgm:pt modelId="{0AEF4FA1-1CD1-4430-85CC-A44541D6F8D2}" type="pres">
      <dgm:prSet presAssocID="{271DB2A1-841A-4F1C-94BB-B1DD646B6C00}" presName="node" presStyleLbl="node1" presStyleIdx="5" presStyleCnt="6">
        <dgm:presLayoutVars>
          <dgm:bulletEnabled val="1"/>
        </dgm:presLayoutVars>
      </dgm:prSet>
      <dgm:spPr/>
    </dgm:pt>
  </dgm:ptLst>
  <dgm:cxnLst>
    <dgm:cxn modelId="{30BDDF00-2E87-4CB0-8A6A-C401F425701B}" type="presOf" srcId="{23FB516D-4D9C-4AEB-87E9-93A21E8A593A}" destId="{870C140F-E4CC-4AF5-9B8C-92C0222A6AF2}" srcOrd="1" destOrd="0" presId="urn:microsoft.com/office/officeart/2005/8/layout/process1"/>
    <dgm:cxn modelId="{8F99F206-047F-4FF8-A883-4129AC6A9966}" type="presOf" srcId="{302072E7-6E14-4921-9354-024637894D05}" destId="{0479C129-88A4-4EDB-9F45-1EFFAC0A307A}" srcOrd="0" destOrd="0" presId="urn:microsoft.com/office/officeart/2005/8/layout/process1"/>
    <dgm:cxn modelId="{5F61580B-79A2-4BBE-87E8-9222C099D163}" srcId="{155FDF42-88B5-4A7D-BE62-8121EE190D74}" destId="{302072E7-6E14-4921-9354-024637894D05}" srcOrd="0" destOrd="0" parTransId="{89564EF3-8AAF-4E62-AC62-9A65886B3828}" sibTransId="{195E2808-5A4B-44D0-B32F-F188B623532B}"/>
    <dgm:cxn modelId="{EFA43311-4024-4EB4-A95F-132AA0E1686B}" type="presOf" srcId="{8161B621-7DB4-4F26-9718-0A001A0A4F47}" destId="{026403DE-205A-48ED-B9B6-265948C253B2}" srcOrd="0" destOrd="0" presId="urn:microsoft.com/office/officeart/2005/8/layout/process1"/>
    <dgm:cxn modelId="{1323E116-F921-4DBD-8706-6DB4D385B4B0}" type="presOf" srcId="{5DDDF8F0-1285-4417-B297-108FE108088E}" destId="{5674BF93-B337-4A4E-A1D4-4AE8414D9CEB}" srcOrd="1" destOrd="0" presId="urn:microsoft.com/office/officeart/2005/8/layout/process1"/>
    <dgm:cxn modelId="{21F83439-6577-4168-91BF-0E57A5D55D4A}" srcId="{155FDF42-88B5-4A7D-BE62-8121EE190D74}" destId="{CE82D411-2D09-4BE1-81B0-7560740ACD00}" srcOrd="1" destOrd="0" parTransId="{CC683FE2-C3A0-47AF-BFEC-FE09FB7E0C17}" sibTransId="{1C6EE5EE-4EE3-470E-8BC7-CDAF37808420}"/>
    <dgm:cxn modelId="{DA91CD39-1C9C-4758-AC00-94E20F831908}" srcId="{155FDF42-88B5-4A7D-BE62-8121EE190D74}" destId="{A5D73475-33E1-423A-B9B6-AB71DB80A841}" srcOrd="2" destOrd="0" parTransId="{DAE10B1B-FDB8-4800-AE77-FCC23E2456AC}" sibTransId="{23FB516D-4D9C-4AEB-87E9-93A21E8A593A}"/>
    <dgm:cxn modelId="{EE9F343C-DCEF-494A-9669-65EACA6BD3CA}" type="presOf" srcId="{2C34857A-4708-4DA5-A1B1-BFBF1D77E955}" destId="{BE1E27DD-0B7B-40AF-BCC6-BA4CA01E5B46}" srcOrd="0" destOrd="0" presId="urn:microsoft.com/office/officeart/2005/8/layout/process1"/>
    <dgm:cxn modelId="{BE90DA4D-3539-4FB2-8FA8-24EA28AD79C9}" type="presOf" srcId="{25782543-2974-46FB-AD62-3E10C2A41684}" destId="{D3DF9C95-82E9-41E2-8663-078F550ED681}" srcOrd="0" destOrd="0" presId="urn:microsoft.com/office/officeart/2005/8/layout/process1"/>
    <dgm:cxn modelId="{899CA275-72DF-411D-BE44-84A26AA93F07}" type="presOf" srcId="{195E2808-5A4B-44D0-B32F-F188B623532B}" destId="{6C8EA7E7-1D46-4408-8A3E-72DB7E9A2740}" srcOrd="0" destOrd="0" presId="urn:microsoft.com/office/officeart/2005/8/layout/process1"/>
    <dgm:cxn modelId="{3969935A-066D-45A8-915B-3BA2DB6CE74C}" type="presOf" srcId="{271DB2A1-841A-4F1C-94BB-B1DD646B6C00}" destId="{0AEF4FA1-1CD1-4430-85CC-A44541D6F8D2}" srcOrd="0" destOrd="0" presId="urn:microsoft.com/office/officeart/2005/8/layout/process1"/>
    <dgm:cxn modelId="{BA12587F-4DCE-4417-8626-7FCBFFF4D85C}" type="presOf" srcId="{1C6EE5EE-4EE3-470E-8BC7-CDAF37808420}" destId="{E91A892D-03A8-465A-B47E-1765123C5B2A}" srcOrd="0" destOrd="0" presId="urn:microsoft.com/office/officeart/2005/8/layout/process1"/>
    <dgm:cxn modelId="{54E271A3-2146-42AE-B647-36C5C51724B2}" srcId="{155FDF42-88B5-4A7D-BE62-8121EE190D74}" destId="{2C34857A-4708-4DA5-A1B1-BFBF1D77E955}" srcOrd="4" destOrd="0" parTransId="{1FAD2953-A432-422A-8F33-F531C909B107}" sibTransId="{8161B621-7DB4-4F26-9718-0A001A0A4F47}"/>
    <dgm:cxn modelId="{A2E750AB-8FFB-424D-8195-9CF75BC8DF00}" type="presOf" srcId="{A5D73475-33E1-423A-B9B6-AB71DB80A841}" destId="{77B17987-795E-4209-BD51-0994472D5A13}" srcOrd="0" destOrd="0" presId="urn:microsoft.com/office/officeart/2005/8/layout/process1"/>
    <dgm:cxn modelId="{DE7470B3-3027-4013-8E7F-9D44D2140C96}" type="presOf" srcId="{1C6EE5EE-4EE3-470E-8BC7-CDAF37808420}" destId="{98EBEC9F-F129-4E81-BBAA-C4C591FC42ED}" srcOrd="1" destOrd="0" presId="urn:microsoft.com/office/officeart/2005/8/layout/process1"/>
    <dgm:cxn modelId="{0C0D98BC-656D-4EC9-BB85-E7D33291C1AF}" type="presOf" srcId="{5DDDF8F0-1285-4417-B297-108FE108088E}" destId="{24198794-3CF1-441E-9E58-87E9570C1F2F}" srcOrd="0" destOrd="0" presId="urn:microsoft.com/office/officeart/2005/8/layout/process1"/>
    <dgm:cxn modelId="{801BD9CF-A32E-4DAE-A5F5-606F841AE573}" type="presOf" srcId="{CE82D411-2D09-4BE1-81B0-7560740ACD00}" destId="{28AAEED4-CB9A-428C-BA84-6CE89F7944DD}" srcOrd="0" destOrd="0" presId="urn:microsoft.com/office/officeart/2005/8/layout/process1"/>
    <dgm:cxn modelId="{52DF64D9-3A3A-42B9-9B55-6FB843C75BCB}" type="presOf" srcId="{8161B621-7DB4-4F26-9718-0A001A0A4F47}" destId="{C698A90B-82AA-4D20-BF73-78764DFD2D59}" srcOrd="1" destOrd="0" presId="urn:microsoft.com/office/officeart/2005/8/layout/process1"/>
    <dgm:cxn modelId="{08E6E8D9-EF9E-4A47-B5DB-609AE4434CC7}" type="presOf" srcId="{195E2808-5A4B-44D0-B32F-F188B623532B}" destId="{3B6721A0-8268-4078-B1DB-47E315B59323}" srcOrd="1" destOrd="0" presId="urn:microsoft.com/office/officeart/2005/8/layout/process1"/>
    <dgm:cxn modelId="{F85D63E3-5B02-4DA6-94FD-62BBB37C5B18}" srcId="{155FDF42-88B5-4A7D-BE62-8121EE190D74}" destId="{25782543-2974-46FB-AD62-3E10C2A41684}" srcOrd="3" destOrd="0" parTransId="{22A14C36-D9EC-416C-8BD4-BEE8E37999C6}" sibTransId="{5DDDF8F0-1285-4417-B297-108FE108088E}"/>
    <dgm:cxn modelId="{D02334F0-9A2C-49BE-AD8E-F46281C2DAF1}" type="presOf" srcId="{155FDF42-88B5-4A7D-BE62-8121EE190D74}" destId="{809D0FB0-9E6E-495B-8861-2A336DCFEFA8}" srcOrd="0" destOrd="0" presId="urn:microsoft.com/office/officeart/2005/8/layout/process1"/>
    <dgm:cxn modelId="{42B0DEF2-B87E-4AFF-8518-5B622E6FBC1C}" type="presOf" srcId="{23FB516D-4D9C-4AEB-87E9-93A21E8A593A}" destId="{E76331B8-8335-49E1-9595-4ED63E005F67}" srcOrd="0" destOrd="0" presId="urn:microsoft.com/office/officeart/2005/8/layout/process1"/>
    <dgm:cxn modelId="{FAA417F9-1B91-4190-8D96-4F4BEC3C9387}" srcId="{155FDF42-88B5-4A7D-BE62-8121EE190D74}" destId="{271DB2A1-841A-4F1C-94BB-B1DD646B6C00}" srcOrd="5" destOrd="0" parTransId="{8E93F204-6EA3-44D6-BFD3-C0541CFABCAA}" sibTransId="{DAB49BED-B330-4B4B-B26A-682CC5F6A4DC}"/>
    <dgm:cxn modelId="{11AC3E36-276E-4A6A-8245-951F992E7547}" type="presParOf" srcId="{809D0FB0-9E6E-495B-8861-2A336DCFEFA8}" destId="{0479C129-88A4-4EDB-9F45-1EFFAC0A307A}" srcOrd="0" destOrd="0" presId="urn:microsoft.com/office/officeart/2005/8/layout/process1"/>
    <dgm:cxn modelId="{E463F9B1-4F2E-4453-832D-102B5B4F5E40}" type="presParOf" srcId="{809D0FB0-9E6E-495B-8861-2A336DCFEFA8}" destId="{6C8EA7E7-1D46-4408-8A3E-72DB7E9A2740}" srcOrd="1" destOrd="0" presId="urn:microsoft.com/office/officeart/2005/8/layout/process1"/>
    <dgm:cxn modelId="{2E728497-14F5-498C-BA4B-ECC771D3E9CA}" type="presParOf" srcId="{6C8EA7E7-1D46-4408-8A3E-72DB7E9A2740}" destId="{3B6721A0-8268-4078-B1DB-47E315B59323}" srcOrd="0" destOrd="0" presId="urn:microsoft.com/office/officeart/2005/8/layout/process1"/>
    <dgm:cxn modelId="{D7AFBC58-8954-4F9B-BAAE-D91ED8993330}" type="presParOf" srcId="{809D0FB0-9E6E-495B-8861-2A336DCFEFA8}" destId="{28AAEED4-CB9A-428C-BA84-6CE89F7944DD}" srcOrd="2" destOrd="0" presId="urn:microsoft.com/office/officeart/2005/8/layout/process1"/>
    <dgm:cxn modelId="{8AB3E05C-AD9E-4E81-90A7-7626F8978F54}" type="presParOf" srcId="{809D0FB0-9E6E-495B-8861-2A336DCFEFA8}" destId="{E91A892D-03A8-465A-B47E-1765123C5B2A}" srcOrd="3" destOrd="0" presId="urn:microsoft.com/office/officeart/2005/8/layout/process1"/>
    <dgm:cxn modelId="{2742E365-D78B-41E0-B369-FDF2E1F1DE94}" type="presParOf" srcId="{E91A892D-03A8-465A-B47E-1765123C5B2A}" destId="{98EBEC9F-F129-4E81-BBAA-C4C591FC42ED}" srcOrd="0" destOrd="0" presId="urn:microsoft.com/office/officeart/2005/8/layout/process1"/>
    <dgm:cxn modelId="{ED4F32B8-2CE3-427B-A2F9-09C528FC4F1F}" type="presParOf" srcId="{809D0FB0-9E6E-495B-8861-2A336DCFEFA8}" destId="{77B17987-795E-4209-BD51-0994472D5A13}" srcOrd="4" destOrd="0" presId="urn:microsoft.com/office/officeart/2005/8/layout/process1"/>
    <dgm:cxn modelId="{42979F33-07D5-4F79-AC4D-3ED26828996C}" type="presParOf" srcId="{809D0FB0-9E6E-495B-8861-2A336DCFEFA8}" destId="{E76331B8-8335-49E1-9595-4ED63E005F67}" srcOrd="5" destOrd="0" presId="urn:microsoft.com/office/officeart/2005/8/layout/process1"/>
    <dgm:cxn modelId="{D6B02EF4-C3B0-4033-9C63-5875EE0AE4AE}" type="presParOf" srcId="{E76331B8-8335-49E1-9595-4ED63E005F67}" destId="{870C140F-E4CC-4AF5-9B8C-92C0222A6AF2}" srcOrd="0" destOrd="0" presId="urn:microsoft.com/office/officeart/2005/8/layout/process1"/>
    <dgm:cxn modelId="{5A6C75A7-9D26-4E9C-9395-ADE5BE31F675}" type="presParOf" srcId="{809D0FB0-9E6E-495B-8861-2A336DCFEFA8}" destId="{D3DF9C95-82E9-41E2-8663-078F550ED681}" srcOrd="6" destOrd="0" presId="urn:microsoft.com/office/officeart/2005/8/layout/process1"/>
    <dgm:cxn modelId="{234223B8-C541-4CF4-AFC1-566FCC8C2756}" type="presParOf" srcId="{809D0FB0-9E6E-495B-8861-2A336DCFEFA8}" destId="{24198794-3CF1-441E-9E58-87E9570C1F2F}" srcOrd="7" destOrd="0" presId="urn:microsoft.com/office/officeart/2005/8/layout/process1"/>
    <dgm:cxn modelId="{36388D77-5D75-4A2E-8CE0-EF70D68DB962}" type="presParOf" srcId="{24198794-3CF1-441E-9E58-87E9570C1F2F}" destId="{5674BF93-B337-4A4E-A1D4-4AE8414D9CEB}" srcOrd="0" destOrd="0" presId="urn:microsoft.com/office/officeart/2005/8/layout/process1"/>
    <dgm:cxn modelId="{DA370E48-AB45-455B-8570-C0238CBE6389}" type="presParOf" srcId="{809D0FB0-9E6E-495B-8861-2A336DCFEFA8}" destId="{BE1E27DD-0B7B-40AF-BCC6-BA4CA01E5B46}" srcOrd="8" destOrd="0" presId="urn:microsoft.com/office/officeart/2005/8/layout/process1"/>
    <dgm:cxn modelId="{592909D4-6523-42F8-B784-1161DFBD96F4}" type="presParOf" srcId="{809D0FB0-9E6E-495B-8861-2A336DCFEFA8}" destId="{026403DE-205A-48ED-B9B6-265948C253B2}" srcOrd="9" destOrd="0" presId="urn:microsoft.com/office/officeart/2005/8/layout/process1"/>
    <dgm:cxn modelId="{D87E94DA-1D1C-4969-8C73-F65D9AD60DF2}" type="presParOf" srcId="{026403DE-205A-48ED-B9B6-265948C253B2}" destId="{C698A90B-82AA-4D20-BF73-78764DFD2D59}" srcOrd="0" destOrd="0" presId="urn:microsoft.com/office/officeart/2005/8/layout/process1"/>
    <dgm:cxn modelId="{2CE82C5F-7702-4909-BD8E-59EEB04B8A01}" type="presParOf" srcId="{809D0FB0-9E6E-495B-8861-2A336DCFEFA8}" destId="{0AEF4FA1-1CD1-4430-85CC-A44541D6F8D2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2B887BB-9C70-4E67-9466-F11A60B495FC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E138AE5-6529-4088-9B6A-639E9CA10619}">
      <dgm:prSet phldrT="[Text]" phldr="0"/>
      <dgm:spPr/>
      <dgm:t>
        <a:bodyPr/>
        <a:lstStyle/>
        <a:p>
          <a:r>
            <a:rPr lang="en-US" altLang="zh-CN" dirty="0"/>
            <a:t>SQL Harmonization</a:t>
          </a:r>
          <a:endParaRPr lang="zh-CN" altLang="en-US" dirty="0"/>
        </a:p>
      </dgm:t>
    </dgm:pt>
    <dgm:pt modelId="{C69AE4F7-7620-4CB3-827C-DA462B1EEC12}" type="parTrans" cxnId="{1C4E8B06-0AB7-41F7-8939-5D83F355713D}">
      <dgm:prSet/>
      <dgm:spPr/>
      <dgm:t>
        <a:bodyPr/>
        <a:lstStyle/>
        <a:p>
          <a:endParaRPr lang="zh-CN" altLang="en-US"/>
        </a:p>
      </dgm:t>
    </dgm:pt>
    <dgm:pt modelId="{A99E19EF-BEC5-43C8-962E-6E18287AD90C}" type="sibTrans" cxnId="{1C4E8B06-0AB7-41F7-8939-5D83F355713D}">
      <dgm:prSet/>
      <dgm:spPr/>
      <dgm:t>
        <a:bodyPr/>
        <a:lstStyle/>
        <a:p>
          <a:endParaRPr lang="zh-CN" altLang="en-US"/>
        </a:p>
      </dgm:t>
    </dgm:pt>
    <dgm:pt modelId="{8ADA3C87-3C0F-4B26-A392-0F37135759F8}">
      <dgm:prSet phldrT="[Text]" phldr="0"/>
      <dgm:spPr/>
      <dgm:t>
        <a:bodyPr/>
        <a:lstStyle/>
        <a:p>
          <a:r>
            <a:rPr lang="en-US" altLang="zh-CN" dirty="0"/>
            <a:t>Quality Flagging</a:t>
          </a:r>
          <a:endParaRPr lang="zh-CN" altLang="en-US" dirty="0"/>
        </a:p>
      </dgm:t>
    </dgm:pt>
    <dgm:pt modelId="{7AEC6952-EFFA-474F-8D8B-0785BD6D2442}" type="parTrans" cxnId="{0014060E-1F89-4781-95B9-73EA84B8D10C}">
      <dgm:prSet/>
      <dgm:spPr/>
      <dgm:t>
        <a:bodyPr/>
        <a:lstStyle/>
        <a:p>
          <a:endParaRPr lang="zh-CN" altLang="en-US"/>
        </a:p>
      </dgm:t>
    </dgm:pt>
    <dgm:pt modelId="{AA9686F1-BBE0-47B2-9E95-EC1F7883E478}" type="sibTrans" cxnId="{0014060E-1F89-4781-95B9-73EA84B8D10C}">
      <dgm:prSet/>
      <dgm:spPr/>
      <dgm:t>
        <a:bodyPr/>
        <a:lstStyle/>
        <a:p>
          <a:endParaRPr lang="zh-CN" altLang="en-US"/>
        </a:p>
      </dgm:t>
    </dgm:pt>
    <dgm:pt modelId="{4B850F40-144D-4586-A71E-125FE3DD2966}">
      <dgm:prSet phldrT="[Text]" phldr="0"/>
      <dgm:spPr/>
      <dgm:t>
        <a:bodyPr/>
        <a:lstStyle/>
        <a:p>
          <a:r>
            <a:rPr lang="en-US" altLang="zh-CN" dirty="0"/>
            <a:t>Estimation (Nowcasting)</a:t>
          </a:r>
          <a:endParaRPr lang="zh-CN" altLang="en-US" dirty="0"/>
        </a:p>
      </dgm:t>
    </dgm:pt>
    <dgm:pt modelId="{C931B2DF-4059-4836-9DA4-B5B18C874913}" type="parTrans" cxnId="{5A857882-A08A-4C44-90D1-FBCA279EC780}">
      <dgm:prSet/>
      <dgm:spPr/>
      <dgm:t>
        <a:bodyPr/>
        <a:lstStyle/>
        <a:p>
          <a:endParaRPr lang="zh-CN" altLang="en-US"/>
        </a:p>
      </dgm:t>
    </dgm:pt>
    <dgm:pt modelId="{1D74022F-3B71-4000-BAA7-86487EFD9EF9}" type="sibTrans" cxnId="{5A857882-A08A-4C44-90D1-FBCA279EC780}">
      <dgm:prSet/>
      <dgm:spPr/>
      <dgm:t>
        <a:bodyPr/>
        <a:lstStyle/>
        <a:p>
          <a:endParaRPr lang="zh-CN" altLang="en-US"/>
        </a:p>
      </dgm:t>
    </dgm:pt>
    <dgm:pt modelId="{7B11C924-2CCF-4BAA-AF70-46D867213C54}">
      <dgm:prSet phldrT="[Text]" phldr="0"/>
      <dgm:spPr/>
      <dgm:t>
        <a:bodyPr/>
        <a:lstStyle/>
        <a:p>
          <a:r>
            <a:rPr lang="en-US" altLang="zh-CN" dirty="0"/>
            <a:t>Automatic Auditing</a:t>
          </a:r>
          <a:endParaRPr lang="zh-CN" altLang="en-US" dirty="0"/>
        </a:p>
      </dgm:t>
    </dgm:pt>
    <dgm:pt modelId="{88C34F9A-3A80-45A7-920E-81A318E48395}" type="parTrans" cxnId="{7356C3DA-5BF7-4C34-9481-386350FAF30B}">
      <dgm:prSet/>
      <dgm:spPr/>
      <dgm:t>
        <a:bodyPr/>
        <a:lstStyle/>
        <a:p>
          <a:endParaRPr lang="zh-CN" altLang="en-US"/>
        </a:p>
      </dgm:t>
    </dgm:pt>
    <dgm:pt modelId="{6F6148EF-4525-4264-A790-3F7ACB650A28}" type="sibTrans" cxnId="{7356C3DA-5BF7-4C34-9481-386350FAF30B}">
      <dgm:prSet/>
      <dgm:spPr/>
      <dgm:t>
        <a:bodyPr/>
        <a:lstStyle/>
        <a:p>
          <a:endParaRPr lang="zh-CN" altLang="en-US"/>
        </a:p>
      </dgm:t>
    </dgm:pt>
    <dgm:pt modelId="{8C42792F-473C-48DA-87ED-53B4D1AE4DE6}">
      <dgm:prSet phldrT="[Text]" phldr="0"/>
      <dgm:spPr/>
      <dgm:t>
        <a:bodyPr/>
        <a:lstStyle/>
        <a:p>
          <a:r>
            <a:rPr lang="en-US" altLang="zh-CN" dirty="0"/>
            <a:t>Export in Multi-formats</a:t>
          </a:r>
          <a:endParaRPr lang="zh-CN" altLang="en-US" dirty="0"/>
        </a:p>
      </dgm:t>
    </dgm:pt>
    <dgm:pt modelId="{E4F4BFB2-2C7D-4C34-85D0-F07C76F7154C}" type="parTrans" cxnId="{AFA9A689-3092-445F-A625-2E50D66148CB}">
      <dgm:prSet/>
      <dgm:spPr/>
      <dgm:t>
        <a:bodyPr/>
        <a:lstStyle/>
        <a:p>
          <a:endParaRPr lang="zh-CN" altLang="en-US"/>
        </a:p>
      </dgm:t>
    </dgm:pt>
    <dgm:pt modelId="{4DB7D6FF-A950-40B0-ACF8-362E47745E47}" type="sibTrans" cxnId="{AFA9A689-3092-445F-A625-2E50D66148CB}">
      <dgm:prSet/>
      <dgm:spPr/>
      <dgm:t>
        <a:bodyPr/>
        <a:lstStyle/>
        <a:p>
          <a:endParaRPr lang="zh-CN" altLang="en-US"/>
        </a:p>
      </dgm:t>
    </dgm:pt>
    <dgm:pt modelId="{7ADD2954-7643-4990-981E-23D834E550A6}" type="pres">
      <dgm:prSet presAssocID="{52B887BB-9C70-4E67-9466-F11A60B495FC}" presName="Name0" presStyleCnt="0">
        <dgm:presLayoutVars>
          <dgm:dir/>
          <dgm:animLvl val="lvl"/>
          <dgm:resizeHandles val="exact"/>
        </dgm:presLayoutVars>
      </dgm:prSet>
      <dgm:spPr/>
    </dgm:pt>
    <dgm:pt modelId="{6C18D18D-D02F-417B-B53E-7FD6AD0AF4B0}" type="pres">
      <dgm:prSet presAssocID="{EE138AE5-6529-4088-9B6A-639E9CA10619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252FA8D4-9E74-48C2-BD49-670C72701927}" type="pres">
      <dgm:prSet presAssocID="{A99E19EF-BEC5-43C8-962E-6E18287AD90C}" presName="parTxOnlySpace" presStyleCnt="0"/>
      <dgm:spPr/>
    </dgm:pt>
    <dgm:pt modelId="{54FF9F86-26DC-4DBA-8C55-5C5077106DA6}" type="pres">
      <dgm:prSet presAssocID="{8ADA3C87-3C0F-4B26-A392-0F37135759F8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D4DC16E-016B-4D9E-A6F1-3D8CE60D3CE6}" type="pres">
      <dgm:prSet presAssocID="{AA9686F1-BBE0-47B2-9E95-EC1F7883E478}" presName="parTxOnlySpace" presStyleCnt="0"/>
      <dgm:spPr/>
    </dgm:pt>
    <dgm:pt modelId="{A083D504-48ED-4B65-95E2-CD68BF0AC93B}" type="pres">
      <dgm:prSet presAssocID="{4B850F40-144D-4586-A71E-125FE3DD2966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32DB46C5-FCB3-4030-B7AC-EE3073F16308}" type="pres">
      <dgm:prSet presAssocID="{1D74022F-3B71-4000-BAA7-86487EFD9EF9}" presName="parTxOnlySpace" presStyleCnt="0"/>
      <dgm:spPr/>
    </dgm:pt>
    <dgm:pt modelId="{FB749C5D-2D77-4DB0-B90A-44322CCFCD77}" type="pres">
      <dgm:prSet presAssocID="{7B11C924-2CCF-4BAA-AF70-46D867213C54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5DD61B05-9F99-4048-96D7-17DA4D926725}" type="pres">
      <dgm:prSet presAssocID="{6F6148EF-4525-4264-A790-3F7ACB650A28}" presName="parTxOnlySpace" presStyleCnt="0"/>
      <dgm:spPr/>
    </dgm:pt>
    <dgm:pt modelId="{9587981A-E074-4E58-BCD5-C4A4B798A147}" type="pres">
      <dgm:prSet presAssocID="{8C42792F-473C-48DA-87ED-53B4D1AE4DE6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1C4E8B06-0AB7-41F7-8939-5D83F355713D}" srcId="{52B887BB-9C70-4E67-9466-F11A60B495FC}" destId="{EE138AE5-6529-4088-9B6A-639E9CA10619}" srcOrd="0" destOrd="0" parTransId="{C69AE4F7-7620-4CB3-827C-DA462B1EEC12}" sibTransId="{A99E19EF-BEC5-43C8-962E-6E18287AD90C}"/>
    <dgm:cxn modelId="{A8BEA808-303E-44BF-B970-CC319C7333C2}" type="presOf" srcId="{4B850F40-144D-4586-A71E-125FE3DD2966}" destId="{A083D504-48ED-4B65-95E2-CD68BF0AC93B}" srcOrd="0" destOrd="0" presId="urn:microsoft.com/office/officeart/2005/8/layout/chevron1"/>
    <dgm:cxn modelId="{8ED2D608-2747-491F-98BA-EB47246EBE80}" type="presOf" srcId="{7B11C924-2CCF-4BAA-AF70-46D867213C54}" destId="{FB749C5D-2D77-4DB0-B90A-44322CCFCD77}" srcOrd="0" destOrd="0" presId="urn:microsoft.com/office/officeart/2005/8/layout/chevron1"/>
    <dgm:cxn modelId="{0014060E-1F89-4781-95B9-73EA84B8D10C}" srcId="{52B887BB-9C70-4E67-9466-F11A60B495FC}" destId="{8ADA3C87-3C0F-4B26-A392-0F37135759F8}" srcOrd="1" destOrd="0" parTransId="{7AEC6952-EFFA-474F-8D8B-0785BD6D2442}" sibTransId="{AA9686F1-BBE0-47B2-9E95-EC1F7883E478}"/>
    <dgm:cxn modelId="{5A857882-A08A-4C44-90D1-FBCA279EC780}" srcId="{52B887BB-9C70-4E67-9466-F11A60B495FC}" destId="{4B850F40-144D-4586-A71E-125FE3DD2966}" srcOrd="2" destOrd="0" parTransId="{C931B2DF-4059-4836-9DA4-B5B18C874913}" sibTransId="{1D74022F-3B71-4000-BAA7-86487EFD9EF9}"/>
    <dgm:cxn modelId="{AFA9A689-3092-445F-A625-2E50D66148CB}" srcId="{52B887BB-9C70-4E67-9466-F11A60B495FC}" destId="{8C42792F-473C-48DA-87ED-53B4D1AE4DE6}" srcOrd="4" destOrd="0" parTransId="{E4F4BFB2-2C7D-4C34-85D0-F07C76F7154C}" sibTransId="{4DB7D6FF-A950-40B0-ACF8-362E47745E47}"/>
    <dgm:cxn modelId="{65283DA6-3C88-43C1-9720-147538677AA7}" type="presOf" srcId="{52B887BB-9C70-4E67-9466-F11A60B495FC}" destId="{7ADD2954-7643-4990-981E-23D834E550A6}" srcOrd="0" destOrd="0" presId="urn:microsoft.com/office/officeart/2005/8/layout/chevron1"/>
    <dgm:cxn modelId="{E0A141B7-48DA-487A-862A-43CAB509E594}" type="presOf" srcId="{EE138AE5-6529-4088-9B6A-639E9CA10619}" destId="{6C18D18D-D02F-417B-B53E-7FD6AD0AF4B0}" srcOrd="0" destOrd="0" presId="urn:microsoft.com/office/officeart/2005/8/layout/chevron1"/>
    <dgm:cxn modelId="{255353BA-0ECD-4C71-929E-415493124E07}" type="presOf" srcId="{8ADA3C87-3C0F-4B26-A392-0F37135759F8}" destId="{54FF9F86-26DC-4DBA-8C55-5C5077106DA6}" srcOrd="0" destOrd="0" presId="urn:microsoft.com/office/officeart/2005/8/layout/chevron1"/>
    <dgm:cxn modelId="{7356C3DA-5BF7-4C34-9481-386350FAF30B}" srcId="{52B887BB-9C70-4E67-9466-F11A60B495FC}" destId="{7B11C924-2CCF-4BAA-AF70-46D867213C54}" srcOrd="3" destOrd="0" parTransId="{88C34F9A-3A80-45A7-920E-81A318E48395}" sibTransId="{6F6148EF-4525-4264-A790-3F7ACB650A28}"/>
    <dgm:cxn modelId="{9292D5FE-0BF1-4BF2-AD2F-7D38286AED90}" type="presOf" srcId="{8C42792F-473C-48DA-87ED-53B4D1AE4DE6}" destId="{9587981A-E074-4E58-BCD5-C4A4B798A147}" srcOrd="0" destOrd="0" presId="urn:microsoft.com/office/officeart/2005/8/layout/chevron1"/>
    <dgm:cxn modelId="{36AACFCD-B9FB-4621-AFF5-5D3CB659D262}" type="presParOf" srcId="{7ADD2954-7643-4990-981E-23D834E550A6}" destId="{6C18D18D-D02F-417B-B53E-7FD6AD0AF4B0}" srcOrd="0" destOrd="0" presId="urn:microsoft.com/office/officeart/2005/8/layout/chevron1"/>
    <dgm:cxn modelId="{FE72E2A5-9217-4C09-93E2-8EE62AD87DE0}" type="presParOf" srcId="{7ADD2954-7643-4990-981E-23D834E550A6}" destId="{252FA8D4-9E74-48C2-BD49-670C72701927}" srcOrd="1" destOrd="0" presId="urn:microsoft.com/office/officeart/2005/8/layout/chevron1"/>
    <dgm:cxn modelId="{7D522BDC-DEE5-42CF-AEB7-D7DF0182373C}" type="presParOf" srcId="{7ADD2954-7643-4990-981E-23D834E550A6}" destId="{54FF9F86-26DC-4DBA-8C55-5C5077106DA6}" srcOrd="2" destOrd="0" presId="urn:microsoft.com/office/officeart/2005/8/layout/chevron1"/>
    <dgm:cxn modelId="{6704400E-5535-44CB-BA57-EF30060795E5}" type="presParOf" srcId="{7ADD2954-7643-4990-981E-23D834E550A6}" destId="{7D4DC16E-016B-4D9E-A6F1-3D8CE60D3CE6}" srcOrd="3" destOrd="0" presId="urn:microsoft.com/office/officeart/2005/8/layout/chevron1"/>
    <dgm:cxn modelId="{043772AA-C259-4409-AA6D-C44A51D71D48}" type="presParOf" srcId="{7ADD2954-7643-4990-981E-23D834E550A6}" destId="{A083D504-48ED-4B65-95E2-CD68BF0AC93B}" srcOrd="4" destOrd="0" presId="urn:microsoft.com/office/officeart/2005/8/layout/chevron1"/>
    <dgm:cxn modelId="{BAA228B1-AB44-4570-BD2E-44B33455C686}" type="presParOf" srcId="{7ADD2954-7643-4990-981E-23D834E550A6}" destId="{32DB46C5-FCB3-4030-B7AC-EE3073F16308}" srcOrd="5" destOrd="0" presId="urn:microsoft.com/office/officeart/2005/8/layout/chevron1"/>
    <dgm:cxn modelId="{7FEEDA23-EC9D-46AA-846C-8134FD2B4EC0}" type="presParOf" srcId="{7ADD2954-7643-4990-981E-23D834E550A6}" destId="{FB749C5D-2D77-4DB0-B90A-44322CCFCD77}" srcOrd="6" destOrd="0" presId="urn:microsoft.com/office/officeart/2005/8/layout/chevron1"/>
    <dgm:cxn modelId="{7F1FBD00-ABEB-46C0-B7B8-78068C6C956B}" type="presParOf" srcId="{7ADD2954-7643-4990-981E-23D834E550A6}" destId="{5DD61B05-9F99-4048-96D7-17DA4D926725}" srcOrd="7" destOrd="0" presId="urn:microsoft.com/office/officeart/2005/8/layout/chevron1"/>
    <dgm:cxn modelId="{0B79D68F-C6CB-4D72-9821-3D2834F82ACE}" type="presParOf" srcId="{7ADD2954-7643-4990-981E-23D834E550A6}" destId="{9587981A-E074-4E58-BCD5-C4A4B798A147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527FD1-40C6-4E55-A11B-F6133781A754}">
      <dsp:nvSpPr>
        <dsp:cNvPr id="0" name=""/>
        <dsp:cNvSpPr/>
      </dsp:nvSpPr>
      <dsp:spPr>
        <a:xfrm rot="5400000">
          <a:off x="317044" y="1762185"/>
          <a:ext cx="953703" cy="1586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CFA4A0-2561-4D60-BF5E-C3303B3F0B06}">
      <dsp:nvSpPr>
        <dsp:cNvPr id="0" name=""/>
        <dsp:cNvSpPr/>
      </dsp:nvSpPr>
      <dsp:spPr>
        <a:xfrm>
          <a:off x="157847" y="2236338"/>
          <a:ext cx="1432699" cy="1255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EDA on Raw Data</a:t>
          </a:r>
          <a:endParaRPr lang="zh-CN" altLang="en-US" sz="1600" kern="1200" dirty="0"/>
        </a:p>
      </dsp:txBody>
      <dsp:txXfrm>
        <a:off x="157847" y="2236338"/>
        <a:ext cx="1432699" cy="1255844"/>
      </dsp:txXfrm>
    </dsp:sp>
    <dsp:sp modelId="{851E3E90-19C2-4415-AE07-E49F52089EF0}">
      <dsp:nvSpPr>
        <dsp:cNvPr id="0" name=""/>
        <dsp:cNvSpPr/>
      </dsp:nvSpPr>
      <dsp:spPr>
        <a:xfrm>
          <a:off x="1320225" y="1645352"/>
          <a:ext cx="270320" cy="270320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D445AC-F09E-4D1B-84AE-644D94AB0AA4}">
      <dsp:nvSpPr>
        <dsp:cNvPr id="0" name=""/>
        <dsp:cNvSpPr/>
      </dsp:nvSpPr>
      <dsp:spPr>
        <a:xfrm rot="5400000">
          <a:off x="2070947" y="1328180"/>
          <a:ext cx="953703" cy="1586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5A48F-C936-47AA-A2A5-7DB8135BC282}">
      <dsp:nvSpPr>
        <dsp:cNvPr id="0" name=""/>
        <dsp:cNvSpPr/>
      </dsp:nvSpPr>
      <dsp:spPr>
        <a:xfrm>
          <a:off x="1911751" y="1802333"/>
          <a:ext cx="1432699" cy="1255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 Harmonization</a:t>
          </a:r>
          <a:endParaRPr lang="zh-CN" altLang="en-US" sz="1600" kern="1200" dirty="0"/>
        </a:p>
      </dsp:txBody>
      <dsp:txXfrm>
        <a:off x="1911751" y="1802333"/>
        <a:ext cx="1432699" cy="1255844"/>
      </dsp:txXfrm>
    </dsp:sp>
    <dsp:sp modelId="{4D6B8DAC-F4A5-4CF2-959C-17273ED6A7B5}">
      <dsp:nvSpPr>
        <dsp:cNvPr id="0" name=""/>
        <dsp:cNvSpPr/>
      </dsp:nvSpPr>
      <dsp:spPr>
        <a:xfrm>
          <a:off x="3074129" y="1211347"/>
          <a:ext cx="270320" cy="270320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1AA815-39FE-4B6C-84C6-2E0654AE69BF}">
      <dsp:nvSpPr>
        <dsp:cNvPr id="0" name=""/>
        <dsp:cNvSpPr/>
      </dsp:nvSpPr>
      <dsp:spPr>
        <a:xfrm rot="5400000">
          <a:off x="3824851" y="894174"/>
          <a:ext cx="953703" cy="1586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B1AAB-E658-459B-90B9-2FC936FDFF3E}">
      <dsp:nvSpPr>
        <dsp:cNvPr id="0" name=""/>
        <dsp:cNvSpPr/>
      </dsp:nvSpPr>
      <dsp:spPr>
        <a:xfrm>
          <a:off x="3665654" y="1368328"/>
          <a:ext cx="1432699" cy="1255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Estimation and Testing</a:t>
          </a:r>
          <a:endParaRPr lang="zh-CN" altLang="en-US" sz="1600" kern="1200" dirty="0"/>
        </a:p>
      </dsp:txBody>
      <dsp:txXfrm>
        <a:off x="3665654" y="1368328"/>
        <a:ext cx="1432699" cy="1255844"/>
      </dsp:txXfrm>
    </dsp:sp>
    <dsp:sp modelId="{CE67EDBB-FE94-4FB3-AF84-E6645676087D}">
      <dsp:nvSpPr>
        <dsp:cNvPr id="0" name=""/>
        <dsp:cNvSpPr/>
      </dsp:nvSpPr>
      <dsp:spPr>
        <a:xfrm>
          <a:off x="4828033" y="777342"/>
          <a:ext cx="270320" cy="270320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AF7AC-2269-4374-8B8F-4C3ADC5FC321}">
      <dsp:nvSpPr>
        <dsp:cNvPr id="0" name=""/>
        <dsp:cNvSpPr/>
      </dsp:nvSpPr>
      <dsp:spPr>
        <a:xfrm rot="5400000">
          <a:off x="5578755" y="460169"/>
          <a:ext cx="953703" cy="1586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4D6A0-B25E-4AA0-812C-B40C094E02CF}">
      <dsp:nvSpPr>
        <dsp:cNvPr id="0" name=""/>
        <dsp:cNvSpPr/>
      </dsp:nvSpPr>
      <dsp:spPr>
        <a:xfrm>
          <a:off x="5419558" y="934323"/>
          <a:ext cx="1432699" cy="1255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Reproducible Workflow</a:t>
          </a:r>
          <a:endParaRPr lang="zh-CN" altLang="en-US" sz="1600" kern="1200" dirty="0"/>
        </a:p>
      </dsp:txBody>
      <dsp:txXfrm>
        <a:off x="5419558" y="934323"/>
        <a:ext cx="1432699" cy="1255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E464C9-0ABE-4B61-9B02-235A5A24B9CF}">
      <dsp:nvSpPr>
        <dsp:cNvPr id="0" name=""/>
        <dsp:cNvSpPr/>
      </dsp:nvSpPr>
      <dsp:spPr>
        <a:xfrm>
          <a:off x="780" y="856628"/>
          <a:ext cx="1663430" cy="9980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ESPR-based Anchor</a:t>
          </a:r>
          <a:endParaRPr lang="en-US" altLang="zh-CN" sz="1900" b="0" kern="1200" dirty="0"/>
        </a:p>
      </dsp:txBody>
      <dsp:txXfrm>
        <a:off x="30012" y="885860"/>
        <a:ext cx="1604966" cy="939594"/>
      </dsp:txXfrm>
    </dsp:sp>
    <dsp:sp modelId="{BAA20030-ECF7-4AA7-A618-AC6DD70882E7}">
      <dsp:nvSpPr>
        <dsp:cNvPr id="0" name=""/>
        <dsp:cNvSpPr/>
      </dsp:nvSpPr>
      <dsp:spPr>
        <a:xfrm>
          <a:off x="1810592" y="1149392"/>
          <a:ext cx="352647" cy="4125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500" kern="1200"/>
        </a:p>
      </dsp:txBody>
      <dsp:txXfrm>
        <a:off x="1810592" y="1231898"/>
        <a:ext cx="246853" cy="247518"/>
      </dsp:txXfrm>
    </dsp:sp>
    <dsp:sp modelId="{E634F90B-F8FE-4A5A-A41F-8F7A129455C2}">
      <dsp:nvSpPr>
        <dsp:cNvPr id="0" name=""/>
        <dsp:cNvSpPr/>
      </dsp:nvSpPr>
      <dsp:spPr>
        <a:xfrm>
          <a:off x="2329582" y="856628"/>
          <a:ext cx="1663430" cy="9980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Add Lag Information</a:t>
          </a:r>
          <a:endParaRPr lang="en-US" altLang="zh-CN" sz="1900" b="0" kern="1200" dirty="0"/>
        </a:p>
      </dsp:txBody>
      <dsp:txXfrm>
        <a:off x="2358814" y="885860"/>
        <a:ext cx="1604966" cy="939594"/>
      </dsp:txXfrm>
    </dsp:sp>
    <dsp:sp modelId="{FA7BBE4A-5AB0-42FA-B29D-1C8DC83A8FC8}">
      <dsp:nvSpPr>
        <dsp:cNvPr id="0" name=""/>
        <dsp:cNvSpPr/>
      </dsp:nvSpPr>
      <dsp:spPr>
        <a:xfrm rot="5400000">
          <a:off x="2984974" y="1971127"/>
          <a:ext cx="352647" cy="4125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500" kern="1200"/>
        </a:p>
      </dsp:txBody>
      <dsp:txXfrm rot="-5400000">
        <a:off x="3037539" y="2001068"/>
        <a:ext cx="247518" cy="246853"/>
      </dsp:txXfrm>
    </dsp:sp>
    <dsp:sp modelId="{B3812193-A063-454B-B78C-D57C01349759}">
      <dsp:nvSpPr>
        <dsp:cNvPr id="0" name=""/>
        <dsp:cNvSpPr/>
      </dsp:nvSpPr>
      <dsp:spPr>
        <a:xfrm>
          <a:off x="2329582" y="2520059"/>
          <a:ext cx="1663430" cy="9980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Apply Smoothing</a:t>
          </a:r>
          <a:endParaRPr lang="zh-CN" altLang="en-US" sz="1900" kern="1200" dirty="0"/>
        </a:p>
      </dsp:txBody>
      <dsp:txXfrm>
        <a:off x="2358814" y="2549291"/>
        <a:ext cx="1604966" cy="939594"/>
      </dsp:txXfrm>
    </dsp:sp>
    <dsp:sp modelId="{13FCA472-9D50-423B-B138-D14B1EC7AA0F}">
      <dsp:nvSpPr>
        <dsp:cNvPr id="0" name=""/>
        <dsp:cNvSpPr/>
      </dsp:nvSpPr>
      <dsp:spPr>
        <a:xfrm rot="10800000">
          <a:off x="1830553" y="2812822"/>
          <a:ext cx="352647" cy="4125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500" kern="1200"/>
        </a:p>
      </dsp:txBody>
      <dsp:txXfrm rot="10800000">
        <a:off x="1936347" y="2895328"/>
        <a:ext cx="246853" cy="247518"/>
      </dsp:txXfrm>
    </dsp:sp>
    <dsp:sp modelId="{28A012FB-ABE5-4A0F-9902-7B4E46FE8990}">
      <dsp:nvSpPr>
        <dsp:cNvPr id="0" name=""/>
        <dsp:cNvSpPr/>
      </dsp:nvSpPr>
      <dsp:spPr>
        <a:xfrm>
          <a:off x="780" y="2520059"/>
          <a:ext cx="1663430" cy="9980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Ensure Value Safety (&gt; 0)</a:t>
          </a:r>
          <a:endParaRPr lang="zh-CN" altLang="en-US" sz="1900" kern="1200" dirty="0"/>
        </a:p>
      </dsp:txBody>
      <dsp:txXfrm>
        <a:off x="30012" y="2549291"/>
        <a:ext cx="1604966" cy="9395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79C129-88A4-4EDB-9F45-1EFFAC0A307A}">
      <dsp:nvSpPr>
        <dsp:cNvPr id="0" name=""/>
        <dsp:cNvSpPr/>
      </dsp:nvSpPr>
      <dsp:spPr>
        <a:xfrm>
          <a:off x="0" y="157120"/>
          <a:ext cx="1324178" cy="14229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Randomly mask known values.</a:t>
          </a:r>
          <a:endParaRPr lang="zh-CN" altLang="en-US" sz="1800" kern="1200" dirty="0"/>
        </a:p>
      </dsp:txBody>
      <dsp:txXfrm>
        <a:off x="38784" y="195904"/>
        <a:ext cx="1246610" cy="1345406"/>
      </dsp:txXfrm>
    </dsp:sp>
    <dsp:sp modelId="{6C8EA7E7-1D46-4408-8A3E-72DB7E9A2740}">
      <dsp:nvSpPr>
        <dsp:cNvPr id="0" name=""/>
        <dsp:cNvSpPr/>
      </dsp:nvSpPr>
      <dsp:spPr>
        <a:xfrm>
          <a:off x="1456596" y="704409"/>
          <a:ext cx="280725" cy="3283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>
        <a:off x="1456596" y="770088"/>
        <a:ext cx="196508" cy="197038"/>
      </dsp:txXfrm>
    </dsp:sp>
    <dsp:sp modelId="{28AAEED4-CB9A-428C-BA84-6CE89F7944DD}">
      <dsp:nvSpPr>
        <dsp:cNvPr id="0" name=""/>
        <dsp:cNvSpPr/>
      </dsp:nvSpPr>
      <dsp:spPr>
        <a:xfrm>
          <a:off x="1853849" y="157120"/>
          <a:ext cx="1324178" cy="14229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Train on unmasked values and evaluate.</a:t>
          </a:r>
          <a:endParaRPr lang="zh-CN" altLang="en-US" sz="1800" kern="1200" dirty="0"/>
        </a:p>
      </dsp:txBody>
      <dsp:txXfrm>
        <a:off x="1892633" y="195904"/>
        <a:ext cx="1246610" cy="1345406"/>
      </dsp:txXfrm>
    </dsp:sp>
    <dsp:sp modelId="{E91A892D-03A8-465A-B47E-1765123C5B2A}">
      <dsp:nvSpPr>
        <dsp:cNvPr id="0" name=""/>
        <dsp:cNvSpPr/>
      </dsp:nvSpPr>
      <dsp:spPr>
        <a:xfrm>
          <a:off x="3310446" y="704409"/>
          <a:ext cx="280725" cy="3283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>
        <a:off x="3310446" y="770088"/>
        <a:ext cx="196508" cy="197038"/>
      </dsp:txXfrm>
    </dsp:sp>
    <dsp:sp modelId="{77B17987-795E-4209-BD51-0994472D5A13}">
      <dsp:nvSpPr>
        <dsp:cNvPr id="0" name=""/>
        <dsp:cNvSpPr/>
      </dsp:nvSpPr>
      <dsp:spPr>
        <a:xfrm>
          <a:off x="3707699" y="157120"/>
          <a:ext cx="1324178" cy="14229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Repeat the test multiple times.</a:t>
          </a:r>
          <a:endParaRPr lang="zh-CN" altLang="en-US" sz="1800" kern="1200" dirty="0"/>
        </a:p>
      </dsp:txBody>
      <dsp:txXfrm>
        <a:off x="3746483" y="195904"/>
        <a:ext cx="1246610" cy="1345406"/>
      </dsp:txXfrm>
    </dsp:sp>
    <dsp:sp modelId="{E76331B8-8335-49E1-9595-4ED63E005F67}">
      <dsp:nvSpPr>
        <dsp:cNvPr id="0" name=""/>
        <dsp:cNvSpPr/>
      </dsp:nvSpPr>
      <dsp:spPr>
        <a:xfrm>
          <a:off x="5164296" y="704409"/>
          <a:ext cx="280725" cy="3283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>
        <a:off x="5164296" y="770088"/>
        <a:ext cx="196508" cy="197038"/>
      </dsp:txXfrm>
    </dsp:sp>
    <dsp:sp modelId="{D3DF9C95-82E9-41E2-8663-078F550ED681}">
      <dsp:nvSpPr>
        <dsp:cNvPr id="0" name=""/>
        <dsp:cNvSpPr/>
      </dsp:nvSpPr>
      <dsp:spPr>
        <a:xfrm>
          <a:off x="5561549" y="157120"/>
          <a:ext cx="1324178" cy="14229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Study the distribution of errors.</a:t>
          </a:r>
          <a:endParaRPr lang="zh-CN" altLang="en-US" sz="1800" kern="1200" dirty="0"/>
        </a:p>
      </dsp:txBody>
      <dsp:txXfrm>
        <a:off x="5600333" y="195904"/>
        <a:ext cx="1246610" cy="1345406"/>
      </dsp:txXfrm>
    </dsp:sp>
    <dsp:sp modelId="{24198794-3CF1-441E-9E58-87E9570C1F2F}">
      <dsp:nvSpPr>
        <dsp:cNvPr id="0" name=""/>
        <dsp:cNvSpPr/>
      </dsp:nvSpPr>
      <dsp:spPr>
        <a:xfrm>
          <a:off x="7018146" y="704409"/>
          <a:ext cx="280725" cy="3283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>
        <a:off x="7018146" y="770088"/>
        <a:ext cx="196508" cy="197038"/>
      </dsp:txXfrm>
    </dsp:sp>
    <dsp:sp modelId="{BE1E27DD-0B7B-40AF-BCC6-BA4CA01E5B46}">
      <dsp:nvSpPr>
        <dsp:cNvPr id="0" name=""/>
        <dsp:cNvSpPr/>
      </dsp:nvSpPr>
      <dsp:spPr>
        <a:xfrm>
          <a:off x="7415399" y="157120"/>
          <a:ext cx="1324178" cy="14229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Choose the most robust method.</a:t>
          </a:r>
          <a:endParaRPr lang="zh-CN" altLang="en-US" sz="1800" kern="1200" dirty="0"/>
        </a:p>
      </dsp:txBody>
      <dsp:txXfrm>
        <a:off x="7454183" y="195904"/>
        <a:ext cx="1246610" cy="1345406"/>
      </dsp:txXfrm>
    </dsp:sp>
    <dsp:sp modelId="{026403DE-205A-48ED-B9B6-265948C253B2}">
      <dsp:nvSpPr>
        <dsp:cNvPr id="0" name=""/>
        <dsp:cNvSpPr/>
      </dsp:nvSpPr>
      <dsp:spPr>
        <a:xfrm>
          <a:off x="8871995" y="704409"/>
          <a:ext cx="280725" cy="3283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>
        <a:off x="8871995" y="770088"/>
        <a:ext cx="196508" cy="197038"/>
      </dsp:txXfrm>
    </dsp:sp>
    <dsp:sp modelId="{0AEF4FA1-1CD1-4430-85CC-A44541D6F8D2}">
      <dsp:nvSpPr>
        <dsp:cNvPr id="0" name=""/>
        <dsp:cNvSpPr/>
      </dsp:nvSpPr>
      <dsp:spPr>
        <a:xfrm>
          <a:off x="9269249" y="157120"/>
          <a:ext cx="1324178" cy="14229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Lag-Hier Nowcast appear to be the best.</a:t>
          </a:r>
          <a:endParaRPr lang="zh-CN" altLang="en-US" sz="1800" kern="1200" dirty="0"/>
        </a:p>
      </dsp:txBody>
      <dsp:txXfrm>
        <a:off x="9308033" y="195904"/>
        <a:ext cx="1246610" cy="13454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18D18D-D02F-417B-B53E-7FD6AD0AF4B0}">
      <dsp:nvSpPr>
        <dsp:cNvPr id="0" name=""/>
        <dsp:cNvSpPr/>
      </dsp:nvSpPr>
      <dsp:spPr>
        <a:xfrm>
          <a:off x="2548" y="1078190"/>
          <a:ext cx="2267813" cy="9071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SQL Harmonization</a:t>
          </a:r>
          <a:endParaRPr lang="zh-CN" altLang="en-US" sz="1500" kern="1200" dirty="0"/>
        </a:p>
      </dsp:txBody>
      <dsp:txXfrm>
        <a:off x="456111" y="1078190"/>
        <a:ext cx="1360688" cy="907125"/>
      </dsp:txXfrm>
    </dsp:sp>
    <dsp:sp modelId="{54FF9F86-26DC-4DBA-8C55-5C5077106DA6}">
      <dsp:nvSpPr>
        <dsp:cNvPr id="0" name=""/>
        <dsp:cNvSpPr/>
      </dsp:nvSpPr>
      <dsp:spPr>
        <a:xfrm>
          <a:off x="2043579" y="1078190"/>
          <a:ext cx="2267813" cy="9071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Quality Flagging</a:t>
          </a:r>
          <a:endParaRPr lang="zh-CN" altLang="en-US" sz="1500" kern="1200" dirty="0"/>
        </a:p>
      </dsp:txBody>
      <dsp:txXfrm>
        <a:off x="2497142" y="1078190"/>
        <a:ext cx="1360688" cy="907125"/>
      </dsp:txXfrm>
    </dsp:sp>
    <dsp:sp modelId="{A083D504-48ED-4B65-95E2-CD68BF0AC93B}">
      <dsp:nvSpPr>
        <dsp:cNvPr id="0" name=""/>
        <dsp:cNvSpPr/>
      </dsp:nvSpPr>
      <dsp:spPr>
        <a:xfrm>
          <a:off x="4084611" y="1078190"/>
          <a:ext cx="2267813" cy="9071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Estimation (Nowcasting)</a:t>
          </a:r>
          <a:endParaRPr lang="zh-CN" altLang="en-US" sz="1500" kern="1200" dirty="0"/>
        </a:p>
      </dsp:txBody>
      <dsp:txXfrm>
        <a:off x="4538174" y="1078190"/>
        <a:ext cx="1360688" cy="907125"/>
      </dsp:txXfrm>
    </dsp:sp>
    <dsp:sp modelId="{FB749C5D-2D77-4DB0-B90A-44322CCFCD77}">
      <dsp:nvSpPr>
        <dsp:cNvPr id="0" name=""/>
        <dsp:cNvSpPr/>
      </dsp:nvSpPr>
      <dsp:spPr>
        <a:xfrm>
          <a:off x="6125643" y="1078190"/>
          <a:ext cx="2267813" cy="9071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Automatic Auditing</a:t>
          </a:r>
          <a:endParaRPr lang="zh-CN" altLang="en-US" sz="1500" kern="1200" dirty="0"/>
        </a:p>
      </dsp:txBody>
      <dsp:txXfrm>
        <a:off x="6579206" y="1078190"/>
        <a:ext cx="1360688" cy="907125"/>
      </dsp:txXfrm>
    </dsp:sp>
    <dsp:sp modelId="{9587981A-E074-4E58-BCD5-C4A4B798A147}">
      <dsp:nvSpPr>
        <dsp:cNvPr id="0" name=""/>
        <dsp:cNvSpPr/>
      </dsp:nvSpPr>
      <dsp:spPr>
        <a:xfrm>
          <a:off x="8166675" y="1078190"/>
          <a:ext cx="2267813" cy="90712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Export in Multi-formats</a:t>
          </a:r>
          <a:endParaRPr lang="zh-CN" altLang="en-US" sz="1500" kern="1200" dirty="0"/>
        </a:p>
      </dsp:txBody>
      <dsp:txXfrm>
        <a:off x="8620238" y="1078190"/>
        <a:ext cx="1360688" cy="9071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/>
          <p:cNvGrpSpPr/>
          <p:nvPr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grpSp>
          <p:nvGrpSpPr>
            <p:cNvPr id="66" name="Group 65"/>
            <p:cNvGrpSpPr/>
            <p:nvPr/>
          </p:nvGrpSpPr>
          <p:grpSpPr>
            <a:xfrm>
              <a:off x="9419170" y="5209186"/>
              <a:ext cx="2772829" cy="1648814"/>
              <a:chOff x="9419170" y="5209186"/>
              <a:chExt cx="2772829" cy="1648814"/>
            </a:xfrm>
          </p:grpSpPr>
          <p:sp>
            <p:nvSpPr>
              <p:cNvPr id="62" name="Freeform: Shape 61"/>
              <p:cNvSpPr/>
              <p:nvPr/>
            </p:nvSpPr>
            <p:spPr>
              <a:xfrm rot="5400000" flipH="1">
                <a:off x="10267779" y="4933778"/>
                <a:ext cx="1209564" cy="2638877"/>
              </a:xfrm>
              <a:custGeom>
                <a:avLst/>
                <a:gdLst>
                  <a:gd name="connsiteX0" fmla="*/ 1376765 w 1376765"/>
                  <a:gd name="connsiteY0" fmla="*/ 0 h 3003656"/>
                  <a:gd name="connsiteX1" fmla="*/ 0 w 1376765"/>
                  <a:gd name="connsiteY1" fmla="*/ 0 h 3003656"/>
                  <a:gd name="connsiteX2" fmla="*/ 0 w 1376765"/>
                  <a:gd name="connsiteY2" fmla="*/ 3003656 h 3003656"/>
                  <a:gd name="connsiteX3" fmla="*/ 320127 w 1376765"/>
                  <a:gd name="connsiteY3" fmla="*/ 3003656 h 3003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6765" h="3003656">
                    <a:moveTo>
                      <a:pt x="1376765" y="0"/>
                    </a:moveTo>
                    <a:lnTo>
                      <a:pt x="0" y="0"/>
                    </a:lnTo>
                    <a:lnTo>
                      <a:pt x="0" y="3003656"/>
                    </a:lnTo>
                    <a:lnTo>
                      <a:pt x="320127" y="3003656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2"/>
                  </a:gs>
                  <a:gs pos="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63" name="Freeform: Shape 62"/>
              <p:cNvSpPr/>
              <p:nvPr/>
            </p:nvSpPr>
            <p:spPr>
              <a:xfrm rot="5400000" flipH="1">
                <a:off x="9981178" y="4647178"/>
                <a:ext cx="1648814" cy="2772829"/>
              </a:xfrm>
              <a:custGeom>
                <a:avLst/>
                <a:gdLst>
                  <a:gd name="connsiteX0" fmla="*/ 1876734 w 1876734"/>
                  <a:gd name="connsiteY0" fmla="*/ 0 h 3156124"/>
                  <a:gd name="connsiteX1" fmla="*/ 266796 w 1876734"/>
                  <a:gd name="connsiteY1" fmla="*/ 0 h 3156124"/>
                  <a:gd name="connsiteX2" fmla="*/ 0 w 1876734"/>
                  <a:gd name="connsiteY2" fmla="*/ 758408 h 3156124"/>
                  <a:gd name="connsiteX3" fmla="*/ 0 w 1876734"/>
                  <a:gd name="connsiteY3" fmla="*/ 3156124 h 3156124"/>
                  <a:gd name="connsiteX4" fmla="*/ 766460 w 1876734"/>
                  <a:gd name="connsiteY4" fmla="*/ 3156124 h 315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76734" h="3156124">
                    <a:moveTo>
                      <a:pt x="1876734" y="0"/>
                    </a:moveTo>
                    <a:lnTo>
                      <a:pt x="266796" y="0"/>
                    </a:lnTo>
                    <a:lnTo>
                      <a:pt x="0" y="758408"/>
                    </a:lnTo>
                    <a:lnTo>
                      <a:pt x="0" y="3156124"/>
                    </a:lnTo>
                    <a:lnTo>
                      <a:pt x="766460" y="3156124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1"/>
                  </a:gs>
                  <a:gs pos="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7488700" y="881392"/>
              <a:ext cx="4200670" cy="5332569"/>
              <a:chOff x="7488700" y="881392"/>
              <a:chExt cx="4200670" cy="5332569"/>
            </a:xfrm>
          </p:grpSpPr>
          <p:sp>
            <p:nvSpPr>
              <p:cNvPr id="34" name="Parallelogram 33"/>
              <p:cNvSpPr/>
              <p:nvPr/>
            </p:nvSpPr>
            <p:spPr>
              <a:xfrm rot="16200000" flipH="1">
                <a:off x="9160185" y="2702110"/>
                <a:ext cx="3127900" cy="1930471"/>
              </a:xfrm>
              <a:prstGeom prst="parallelogram">
                <a:avLst/>
              </a:prstGeom>
              <a:gradFill flip="none" rotWithShape="1">
                <a:gsLst>
                  <a:gs pos="100000">
                    <a:schemeClr val="accent2"/>
                  </a:gs>
                  <a:gs pos="5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33" name="Parallelogram 32"/>
              <p:cNvSpPr/>
              <p:nvPr/>
            </p:nvSpPr>
            <p:spPr>
              <a:xfrm rot="16200000" flipH="1">
                <a:off x="7403824" y="2101368"/>
                <a:ext cx="4370423" cy="1930471"/>
              </a:xfrm>
              <a:prstGeom prst="parallelogram">
                <a:avLst/>
              </a:prstGeom>
              <a:gradFill flip="none" rotWithShape="0">
                <a:gsLst>
                  <a:gs pos="100000">
                    <a:schemeClr val="accent2"/>
                  </a:gs>
                  <a:gs pos="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32" name="Parallelogram 31"/>
              <p:cNvSpPr/>
              <p:nvPr/>
            </p:nvSpPr>
            <p:spPr>
              <a:xfrm rot="16200000" flipH="1">
                <a:off x="6268724" y="3063514"/>
                <a:ext cx="4370423" cy="1930471"/>
              </a:xfrm>
              <a:prstGeom prst="parallelogram">
                <a:avLst/>
              </a:prstGeom>
              <a:gradFill flip="none" rotWithShape="1">
                <a:gsLst>
                  <a:gs pos="95000">
                    <a:schemeClr val="accent1"/>
                  </a:gs>
                  <a:gs pos="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0486570" y="0"/>
              <a:ext cx="1705430" cy="924553"/>
              <a:chOff x="10486570" y="0"/>
              <a:chExt cx="1705430" cy="924553"/>
            </a:xfrm>
          </p:grpSpPr>
          <p:sp>
            <p:nvSpPr>
              <p:cNvPr id="59" name="Freeform: Shape 58"/>
              <p:cNvSpPr/>
              <p:nvPr/>
            </p:nvSpPr>
            <p:spPr>
              <a:xfrm rot="5400000" flipH="1">
                <a:off x="11300792" y="33346"/>
                <a:ext cx="924553" cy="857862"/>
              </a:xfrm>
              <a:custGeom>
                <a:avLst/>
                <a:gdLst>
                  <a:gd name="connsiteX0" fmla="*/ 924553 w 924553"/>
                  <a:gd name="connsiteY0" fmla="*/ 843553 h 857862"/>
                  <a:gd name="connsiteX1" fmla="*/ 924553 w 924553"/>
                  <a:gd name="connsiteY1" fmla="*/ 0 h 857862"/>
                  <a:gd name="connsiteX2" fmla="*/ 301782 w 924553"/>
                  <a:gd name="connsiteY2" fmla="*/ 0 h 857862"/>
                  <a:gd name="connsiteX3" fmla="*/ 0 w 924553"/>
                  <a:gd name="connsiteY3" fmla="*/ 857862 h 857862"/>
                  <a:gd name="connsiteX4" fmla="*/ 919520 w 924553"/>
                  <a:gd name="connsiteY4" fmla="*/ 857862 h 857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4553" h="857862">
                    <a:moveTo>
                      <a:pt x="924553" y="843553"/>
                    </a:moveTo>
                    <a:lnTo>
                      <a:pt x="924553" y="0"/>
                    </a:lnTo>
                    <a:lnTo>
                      <a:pt x="301782" y="0"/>
                    </a:lnTo>
                    <a:lnTo>
                      <a:pt x="0" y="857862"/>
                    </a:lnTo>
                    <a:lnTo>
                      <a:pt x="919520" y="857862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2"/>
                  </a:gs>
                  <a:gs pos="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58" name="Freeform: Shape 57"/>
              <p:cNvSpPr/>
              <p:nvPr/>
            </p:nvSpPr>
            <p:spPr>
              <a:xfrm rot="5400000" flipH="1">
                <a:off x="10987786" y="-501216"/>
                <a:ext cx="702998" cy="1705429"/>
              </a:xfrm>
              <a:custGeom>
                <a:avLst/>
                <a:gdLst>
                  <a:gd name="connsiteX0" fmla="*/ 918094 w 918094"/>
                  <a:gd name="connsiteY0" fmla="*/ 2227238 h 2227238"/>
                  <a:gd name="connsiteX1" fmla="*/ 918094 w 918094"/>
                  <a:gd name="connsiteY1" fmla="*/ 0 h 2227238"/>
                  <a:gd name="connsiteX2" fmla="*/ 783507 w 918094"/>
                  <a:gd name="connsiteY2" fmla="*/ 0 h 2227238"/>
                  <a:gd name="connsiteX3" fmla="*/ 0 w 918094"/>
                  <a:gd name="connsiteY3" fmla="*/ 2227238 h 2227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18094" h="2227238">
                    <a:moveTo>
                      <a:pt x="918094" y="2227238"/>
                    </a:moveTo>
                    <a:lnTo>
                      <a:pt x="918094" y="0"/>
                    </a:lnTo>
                    <a:lnTo>
                      <a:pt x="783507" y="0"/>
                    </a:lnTo>
                    <a:lnTo>
                      <a:pt x="0" y="2227238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1"/>
                  </a:gs>
                  <a:gs pos="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  <p:sp>
          <p:nvSpPr>
            <p:cNvPr id="55" name="Freeform: Shape 54"/>
            <p:cNvSpPr/>
            <p:nvPr/>
          </p:nvSpPr>
          <p:spPr>
            <a:xfrm rot="5400000" flipH="1">
              <a:off x="449000" y="-449000"/>
              <a:ext cx="1308654" cy="2206655"/>
            </a:xfrm>
            <a:custGeom>
              <a:avLst/>
              <a:gdLst>
                <a:gd name="connsiteX0" fmla="*/ 1308654 w 1308654"/>
                <a:gd name="connsiteY0" fmla="*/ 2206655 h 2206655"/>
                <a:gd name="connsiteX1" fmla="*/ 1308654 w 1308654"/>
                <a:gd name="connsiteY1" fmla="*/ 0 h 2206655"/>
                <a:gd name="connsiteX2" fmla="*/ 863867 w 1308654"/>
                <a:gd name="connsiteY2" fmla="*/ 0 h 2206655"/>
                <a:gd name="connsiteX3" fmla="*/ 0 w 1308654"/>
                <a:gd name="connsiteY3" fmla="*/ 2206655 h 220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8654" h="2206655">
                  <a:moveTo>
                    <a:pt x="1308654" y="2206655"/>
                  </a:moveTo>
                  <a:lnTo>
                    <a:pt x="1308654" y="0"/>
                  </a:lnTo>
                  <a:lnTo>
                    <a:pt x="863867" y="0"/>
                  </a:lnTo>
                  <a:lnTo>
                    <a:pt x="0" y="2206655"/>
                  </a:lnTo>
                  <a:close/>
                </a:path>
              </a:pathLst>
            </a:custGeom>
            <a:gradFill flip="none" rotWithShape="0">
              <a:gsLst>
                <a:gs pos="100000">
                  <a:schemeClr val="accent2"/>
                </a:gs>
                <a:gs pos="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65" name="Freeform: Shape 64"/>
            <p:cNvSpPr/>
            <p:nvPr/>
          </p:nvSpPr>
          <p:spPr>
            <a:xfrm rot="5400000" flipH="1">
              <a:off x="345972" y="5380613"/>
              <a:ext cx="1131415" cy="1823359"/>
            </a:xfrm>
            <a:custGeom>
              <a:avLst/>
              <a:gdLst>
                <a:gd name="connsiteX0" fmla="*/ 1131415 w 1131415"/>
                <a:gd name="connsiteY0" fmla="*/ 0 h 1823359"/>
                <a:gd name="connsiteX1" fmla="*/ 0 w 1131415"/>
                <a:gd name="connsiteY1" fmla="*/ 0 h 1823359"/>
                <a:gd name="connsiteX2" fmla="*/ 0 w 1131415"/>
                <a:gd name="connsiteY2" fmla="*/ 1823359 h 1823359"/>
                <a:gd name="connsiteX3" fmla="*/ 489987 w 1131415"/>
                <a:gd name="connsiteY3" fmla="*/ 1823359 h 182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1415" h="1823359">
                  <a:moveTo>
                    <a:pt x="1131415" y="0"/>
                  </a:moveTo>
                  <a:lnTo>
                    <a:pt x="0" y="0"/>
                  </a:lnTo>
                  <a:lnTo>
                    <a:pt x="0" y="1823359"/>
                  </a:lnTo>
                  <a:lnTo>
                    <a:pt x="489987" y="1823359"/>
                  </a:lnTo>
                  <a:close/>
                </a:path>
              </a:pathLst>
            </a:custGeom>
            <a:gradFill flip="none" rotWithShape="0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0400" y="1568603"/>
            <a:ext cx="6692900" cy="2137298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0400" y="3810586"/>
            <a:ext cx="6692900" cy="99533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4910603"/>
            <a:ext cx="6692895" cy="293607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256364"/>
            <a:ext cx="6692895" cy="293607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AB1B7E7-319C-746F-E54F-A9718352BD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9330" y="5648434"/>
            <a:ext cx="2919642" cy="1209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60400" y="1130300"/>
            <a:ext cx="10858500" cy="5003800"/>
          </a:xfrm>
        </p:spPr>
        <p:txBody>
          <a:bodyPr/>
          <a:lstStyle>
            <a:lvl1pPr marL="342900" indent="-342900">
              <a:buFont typeface="+mj-lt"/>
              <a:buAutoNum type="arabicPeriod"/>
              <a:defRPr/>
            </a:lvl1pPr>
            <a:lvl2pPr marL="800100" indent="-342900">
              <a:buFont typeface="+mj-lt"/>
              <a:buAutoNum type="arabicPeriod"/>
              <a:defRPr/>
            </a:lvl2pPr>
            <a:lvl3pPr marL="1257300" indent="-342900">
              <a:buFont typeface="+mj-lt"/>
              <a:buAutoNum type="arabicPeriod"/>
              <a:defRPr/>
            </a:lvl3pPr>
            <a:lvl4pPr>
              <a:buFont typeface="+mj-lt"/>
              <a:buAutoNum type="arabicPeriod"/>
              <a:defRPr/>
            </a:lvl4pPr>
            <a:lvl5pPr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/>
          <p:cNvGrpSpPr/>
          <p:nvPr/>
        </p:nvGrpSpPr>
        <p:grpSpPr>
          <a:xfrm>
            <a:off x="-1" y="0"/>
            <a:ext cx="12192001" cy="6858001"/>
            <a:chOff x="-1" y="0"/>
            <a:chExt cx="12192001" cy="6858001"/>
          </a:xfrm>
        </p:grpSpPr>
        <p:grpSp>
          <p:nvGrpSpPr>
            <p:cNvPr id="28" name="Group 27"/>
            <p:cNvGrpSpPr/>
            <p:nvPr/>
          </p:nvGrpSpPr>
          <p:grpSpPr>
            <a:xfrm>
              <a:off x="-1" y="2627708"/>
              <a:ext cx="3621019" cy="4230293"/>
              <a:chOff x="-1" y="2627708"/>
              <a:chExt cx="3621019" cy="4230293"/>
            </a:xfrm>
          </p:grpSpPr>
          <p:sp>
            <p:nvSpPr>
              <p:cNvPr id="22" name="Freeform: Shape 21"/>
              <p:cNvSpPr/>
              <p:nvPr/>
            </p:nvSpPr>
            <p:spPr>
              <a:xfrm rot="5400000" flipH="1">
                <a:off x="492548" y="3729530"/>
                <a:ext cx="2635922" cy="3621019"/>
              </a:xfrm>
              <a:custGeom>
                <a:avLst/>
                <a:gdLst>
                  <a:gd name="connsiteX0" fmla="*/ 2635922 w 2635922"/>
                  <a:gd name="connsiteY0" fmla="*/ 0 h 3621019"/>
                  <a:gd name="connsiteX1" fmla="*/ 677536 w 2635922"/>
                  <a:gd name="connsiteY1" fmla="*/ 0 h 3621019"/>
                  <a:gd name="connsiteX2" fmla="*/ 0 w 2635922"/>
                  <a:gd name="connsiteY2" fmla="*/ 1926000 h 3621019"/>
                  <a:gd name="connsiteX3" fmla="*/ 0 w 2635922"/>
                  <a:gd name="connsiteY3" fmla="*/ 3621019 h 3621019"/>
                  <a:gd name="connsiteX4" fmla="*/ 1362106 w 2635922"/>
                  <a:gd name="connsiteY4" fmla="*/ 3621019 h 3621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35922" h="3621019">
                    <a:moveTo>
                      <a:pt x="2635922" y="0"/>
                    </a:moveTo>
                    <a:lnTo>
                      <a:pt x="677536" y="0"/>
                    </a:lnTo>
                    <a:lnTo>
                      <a:pt x="0" y="1926000"/>
                    </a:lnTo>
                    <a:lnTo>
                      <a:pt x="0" y="3621019"/>
                    </a:lnTo>
                    <a:lnTo>
                      <a:pt x="1362106" y="3621019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1"/>
                  </a:gs>
                  <a:gs pos="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20" name="Freeform: Shape 19"/>
              <p:cNvSpPr/>
              <p:nvPr/>
            </p:nvSpPr>
            <p:spPr>
              <a:xfrm rot="5400000" flipH="1">
                <a:off x="-13132" y="2640840"/>
                <a:ext cx="2469390" cy="2443126"/>
              </a:xfrm>
              <a:custGeom>
                <a:avLst/>
                <a:gdLst>
                  <a:gd name="connsiteX0" fmla="*/ 2469390 w 2469390"/>
                  <a:gd name="connsiteY0" fmla="*/ 0 h 2443126"/>
                  <a:gd name="connsiteX1" fmla="*/ 859453 w 2469390"/>
                  <a:gd name="connsiteY1" fmla="*/ 0 h 2443126"/>
                  <a:gd name="connsiteX2" fmla="*/ 0 w 2469390"/>
                  <a:gd name="connsiteY2" fmla="*/ 2443126 h 2443126"/>
                  <a:gd name="connsiteX3" fmla="*/ 1609937 w 2469390"/>
                  <a:gd name="connsiteY3" fmla="*/ 2443126 h 2443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69390" h="2443126">
                    <a:moveTo>
                      <a:pt x="2469390" y="0"/>
                    </a:moveTo>
                    <a:lnTo>
                      <a:pt x="859453" y="0"/>
                    </a:lnTo>
                    <a:lnTo>
                      <a:pt x="0" y="2443126"/>
                    </a:lnTo>
                    <a:lnTo>
                      <a:pt x="1609937" y="2443126"/>
                    </a:lnTo>
                    <a:close/>
                  </a:path>
                </a:pathLst>
              </a:custGeom>
              <a:gradFill flip="none" rotWithShape="0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21" name="Freeform: Shape 20"/>
              <p:cNvSpPr/>
              <p:nvPr/>
            </p:nvSpPr>
            <p:spPr>
              <a:xfrm rot="5400000" flipH="1">
                <a:off x="-220288" y="3997101"/>
                <a:ext cx="2782095" cy="2341519"/>
              </a:xfrm>
              <a:custGeom>
                <a:avLst/>
                <a:gdLst>
                  <a:gd name="connsiteX0" fmla="*/ 2782095 w 2782095"/>
                  <a:gd name="connsiteY0" fmla="*/ 0 h 2341519"/>
                  <a:gd name="connsiteX1" fmla="*/ 823709 w 2782095"/>
                  <a:gd name="connsiteY1" fmla="*/ 0 h 2341519"/>
                  <a:gd name="connsiteX2" fmla="*/ 0 w 2782095"/>
                  <a:gd name="connsiteY2" fmla="*/ 2341519 h 2341519"/>
                  <a:gd name="connsiteX3" fmla="*/ 1958386 w 2782095"/>
                  <a:gd name="connsiteY3" fmla="*/ 2341519 h 2341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82095" h="2341519">
                    <a:moveTo>
                      <a:pt x="2782095" y="0"/>
                    </a:moveTo>
                    <a:lnTo>
                      <a:pt x="823709" y="0"/>
                    </a:lnTo>
                    <a:lnTo>
                      <a:pt x="0" y="2341519"/>
                    </a:lnTo>
                    <a:lnTo>
                      <a:pt x="1958386" y="2341519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2"/>
                  </a:gs>
                  <a:gs pos="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9964761" y="0"/>
              <a:ext cx="2227239" cy="924553"/>
              <a:chOff x="9964761" y="0"/>
              <a:chExt cx="2227239" cy="924553"/>
            </a:xfrm>
          </p:grpSpPr>
          <p:sp>
            <p:nvSpPr>
              <p:cNvPr id="26" name="Freeform: Shape 25"/>
              <p:cNvSpPr/>
              <p:nvPr/>
            </p:nvSpPr>
            <p:spPr>
              <a:xfrm rot="5400000" flipH="1">
                <a:off x="11319337" y="51891"/>
                <a:ext cx="924553" cy="820772"/>
              </a:xfrm>
              <a:custGeom>
                <a:avLst/>
                <a:gdLst>
                  <a:gd name="connsiteX0" fmla="*/ 924553 w 924553"/>
                  <a:gd name="connsiteY0" fmla="*/ 806464 h 820772"/>
                  <a:gd name="connsiteX1" fmla="*/ 924553 w 924553"/>
                  <a:gd name="connsiteY1" fmla="*/ 0 h 820772"/>
                  <a:gd name="connsiteX2" fmla="*/ 288734 w 924553"/>
                  <a:gd name="connsiteY2" fmla="*/ 0 h 820772"/>
                  <a:gd name="connsiteX3" fmla="*/ 0 w 924553"/>
                  <a:gd name="connsiteY3" fmla="*/ 820772 h 820772"/>
                  <a:gd name="connsiteX4" fmla="*/ 919520 w 924553"/>
                  <a:gd name="connsiteY4" fmla="*/ 820772 h 820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4553" h="820772">
                    <a:moveTo>
                      <a:pt x="924553" y="806464"/>
                    </a:moveTo>
                    <a:lnTo>
                      <a:pt x="924553" y="0"/>
                    </a:lnTo>
                    <a:lnTo>
                      <a:pt x="288734" y="0"/>
                    </a:lnTo>
                    <a:lnTo>
                      <a:pt x="0" y="820772"/>
                    </a:lnTo>
                    <a:lnTo>
                      <a:pt x="919520" y="820772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2"/>
                  </a:gs>
                  <a:gs pos="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25" name="Freeform: Shape 24"/>
              <p:cNvSpPr/>
              <p:nvPr/>
            </p:nvSpPr>
            <p:spPr>
              <a:xfrm rot="5400000" flipH="1">
                <a:off x="10619333" y="-654572"/>
                <a:ext cx="918094" cy="2227238"/>
              </a:xfrm>
              <a:custGeom>
                <a:avLst/>
                <a:gdLst>
                  <a:gd name="connsiteX0" fmla="*/ 918094 w 918094"/>
                  <a:gd name="connsiteY0" fmla="*/ 2227238 h 2227238"/>
                  <a:gd name="connsiteX1" fmla="*/ 918094 w 918094"/>
                  <a:gd name="connsiteY1" fmla="*/ 0 h 2227238"/>
                  <a:gd name="connsiteX2" fmla="*/ 783507 w 918094"/>
                  <a:gd name="connsiteY2" fmla="*/ 0 h 2227238"/>
                  <a:gd name="connsiteX3" fmla="*/ 0 w 918094"/>
                  <a:gd name="connsiteY3" fmla="*/ 2227238 h 2227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18094" h="2227238">
                    <a:moveTo>
                      <a:pt x="918094" y="2227238"/>
                    </a:moveTo>
                    <a:lnTo>
                      <a:pt x="918094" y="0"/>
                    </a:lnTo>
                    <a:lnTo>
                      <a:pt x="783507" y="0"/>
                    </a:lnTo>
                    <a:lnTo>
                      <a:pt x="0" y="2227238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1"/>
                  </a:gs>
                  <a:gs pos="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  <p:sp>
          <p:nvSpPr>
            <p:cNvPr id="30" name="Freeform: Shape 29"/>
            <p:cNvSpPr/>
            <p:nvPr/>
          </p:nvSpPr>
          <p:spPr>
            <a:xfrm rot="5400000" flipH="1">
              <a:off x="10886461" y="5552462"/>
              <a:ext cx="679498" cy="1931578"/>
            </a:xfrm>
            <a:custGeom>
              <a:avLst/>
              <a:gdLst>
                <a:gd name="connsiteX0" fmla="*/ 679498 w 679498"/>
                <a:gd name="connsiteY0" fmla="*/ 0 h 1931578"/>
                <a:gd name="connsiteX1" fmla="*/ 0 w 679498"/>
                <a:gd name="connsiteY1" fmla="*/ 0 h 1931578"/>
                <a:gd name="connsiteX2" fmla="*/ 0 w 679498"/>
                <a:gd name="connsiteY2" fmla="*/ 1931578 h 1931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9498" h="1931578">
                  <a:moveTo>
                    <a:pt x="679498" y="0"/>
                  </a:moveTo>
                  <a:lnTo>
                    <a:pt x="0" y="0"/>
                  </a:lnTo>
                  <a:lnTo>
                    <a:pt x="0" y="1931578"/>
                  </a:lnTo>
                  <a:close/>
                </a:path>
              </a:pathLst>
            </a:custGeom>
            <a:gradFill flip="none" rotWithShape="0">
              <a:gsLst>
                <a:gs pos="100000">
                  <a:schemeClr val="accent2"/>
                </a:gs>
                <a:gs pos="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2EBFD23-57FD-184D-C2C1-C000FE9F8B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5610" y="5696606"/>
            <a:ext cx="2803362" cy="1161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/>
          <p:cNvGrpSpPr/>
          <p:nvPr/>
        </p:nvGrpSpPr>
        <p:grpSpPr>
          <a:xfrm>
            <a:off x="-1" y="-1"/>
            <a:ext cx="12192001" cy="6858002"/>
            <a:chOff x="-1" y="-1"/>
            <a:chExt cx="12192001" cy="6858002"/>
          </a:xfrm>
        </p:grpSpPr>
        <p:grpSp>
          <p:nvGrpSpPr>
            <p:cNvPr id="49" name="Group 48"/>
            <p:cNvGrpSpPr/>
            <p:nvPr/>
          </p:nvGrpSpPr>
          <p:grpSpPr>
            <a:xfrm>
              <a:off x="8847190" y="4771800"/>
              <a:ext cx="3344810" cy="2086200"/>
              <a:chOff x="8847190" y="4771800"/>
              <a:chExt cx="3344810" cy="2086200"/>
            </a:xfrm>
          </p:grpSpPr>
          <p:sp>
            <p:nvSpPr>
              <p:cNvPr id="42" name="Freeform: Shape 41"/>
              <p:cNvSpPr/>
              <p:nvPr/>
            </p:nvSpPr>
            <p:spPr>
              <a:xfrm rot="5400000" flipH="1">
                <a:off x="10013096" y="4679096"/>
                <a:ext cx="1522591" cy="2835217"/>
              </a:xfrm>
              <a:custGeom>
                <a:avLst/>
                <a:gdLst>
                  <a:gd name="connsiteX0" fmla="*/ 1522591 w 1522591"/>
                  <a:gd name="connsiteY0" fmla="*/ 0 h 2835217"/>
                  <a:gd name="connsiteX1" fmla="*/ 0 w 1522591"/>
                  <a:gd name="connsiteY1" fmla="*/ 0 h 2835217"/>
                  <a:gd name="connsiteX2" fmla="*/ 0 w 1522591"/>
                  <a:gd name="connsiteY2" fmla="*/ 2835217 h 2835217"/>
                  <a:gd name="connsiteX3" fmla="*/ 525207 w 1522591"/>
                  <a:gd name="connsiteY3" fmla="*/ 2835217 h 2835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2591" h="2835217">
                    <a:moveTo>
                      <a:pt x="1522591" y="0"/>
                    </a:moveTo>
                    <a:lnTo>
                      <a:pt x="0" y="0"/>
                    </a:lnTo>
                    <a:lnTo>
                      <a:pt x="0" y="2835217"/>
                    </a:lnTo>
                    <a:lnTo>
                      <a:pt x="525207" y="2835217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2"/>
                  </a:gs>
                  <a:gs pos="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39" name="Freeform: Shape 38"/>
              <p:cNvSpPr/>
              <p:nvPr/>
            </p:nvSpPr>
            <p:spPr>
              <a:xfrm rot="5400000" flipH="1">
                <a:off x="9388386" y="4230604"/>
                <a:ext cx="2086199" cy="3168592"/>
              </a:xfrm>
              <a:custGeom>
                <a:avLst/>
                <a:gdLst>
                  <a:gd name="connsiteX0" fmla="*/ 2086199 w 2086199"/>
                  <a:gd name="connsiteY0" fmla="*/ 0 h 3168592"/>
                  <a:gd name="connsiteX1" fmla="*/ 476262 w 2086199"/>
                  <a:gd name="connsiteY1" fmla="*/ 0 h 3168592"/>
                  <a:gd name="connsiteX2" fmla="*/ 0 w 2086199"/>
                  <a:gd name="connsiteY2" fmla="*/ 1353849 h 3168592"/>
                  <a:gd name="connsiteX3" fmla="*/ 0 w 2086199"/>
                  <a:gd name="connsiteY3" fmla="*/ 3168592 h 3168592"/>
                  <a:gd name="connsiteX4" fmla="*/ 971539 w 2086199"/>
                  <a:gd name="connsiteY4" fmla="*/ 3168592 h 3168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86199" h="3168592">
                    <a:moveTo>
                      <a:pt x="2086199" y="0"/>
                    </a:moveTo>
                    <a:lnTo>
                      <a:pt x="476262" y="0"/>
                    </a:lnTo>
                    <a:lnTo>
                      <a:pt x="0" y="1353849"/>
                    </a:lnTo>
                    <a:lnTo>
                      <a:pt x="0" y="3168592"/>
                    </a:lnTo>
                    <a:lnTo>
                      <a:pt x="971539" y="3168592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1"/>
                  </a:gs>
                  <a:gs pos="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9185788" y="0"/>
              <a:ext cx="3006212" cy="1261059"/>
              <a:chOff x="9185788" y="0"/>
              <a:chExt cx="3006212" cy="1261059"/>
            </a:xfrm>
          </p:grpSpPr>
          <p:sp>
            <p:nvSpPr>
              <p:cNvPr id="36" name="Freeform: Shape 35"/>
              <p:cNvSpPr/>
              <p:nvPr/>
            </p:nvSpPr>
            <p:spPr>
              <a:xfrm rot="5400000" flipH="1">
                <a:off x="10761597" y="-169343"/>
                <a:ext cx="1261059" cy="1599746"/>
              </a:xfrm>
              <a:custGeom>
                <a:avLst/>
                <a:gdLst>
                  <a:gd name="connsiteX0" fmla="*/ 1261059 w 1261059"/>
                  <a:gd name="connsiteY0" fmla="*/ 628867 h 1599746"/>
                  <a:gd name="connsiteX1" fmla="*/ 1261059 w 1261059"/>
                  <a:gd name="connsiteY1" fmla="*/ 0 h 1599746"/>
                  <a:gd name="connsiteX2" fmla="*/ 562765 w 1261059"/>
                  <a:gd name="connsiteY2" fmla="*/ 0 h 1599746"/>
                  <a:gd name="connsiteX3" fmla="*/ 0 w 1261059"/>
                  <a:gd name="connsiteY3" fmla="*/ 1599746 h 1599746"/>
                  <a:gd name="connsiteX4" fmla="*/ 919520 w 1261059"/>
                  <a:gd name="connsiteY4" fmla="*/ 1599746 h 1599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1059" h="1599746">
                    <a:moveTo>
                      <a:pt x="1261059" y="628867"/>
                    </a:moveTo>
                    <a:lnTo>
                      <a:pt x="1261059" y="0"/>
                    </a:lnTo>
                    <a:lnTo>
                      <a:pt x="562765" y="0"/>
                    </a:lnTo>
                    <a:lnTo>
                      <a:pt x="0" y="1599746"/>
                    </a:lnTo>
                    <a:lnTo>
                      <a:pt x="919520" y="1599746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2"/>
                  </a:gs>
                  <a:gs pos="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35" name="Freeform: Shape 34"/>
              <p:cNvSpPr/>
              <p:nvPr/>
            </p:nvSpPr>
            <p:spPr>
              <a:xfrm rot="5400000" flipH="1">
                <a:off x="10061594" y="-875805"/>
                <a:ext cx="1254600" cy="3006211"/>
              </a:xfrm>
              <a:custGeom>
                <a:avLst/>
                <a:gdLst>
                  <a:gd name="connsiteX0" fmla="*/ 1254600 w 1254600"/>
                  <a:gd name="connsiteY0" fmla="*/ 3006211 h 3006211"/>
                  <a:gd name="connsiteX1" fmla="*/ 1254600 w 1254600"/>
                  <a:gd name="connsiteY1" fmla="*/ 0 h 3006211"/>
                  <a:gd name="connsiteX2" fmla="*/ 1057537 w 1254600"/>
                  <a:gd name="connsiteY2" fmla="*/ 0 h 3006211"/>
                  <a:gd name="connsiteX3" fmla="*/ 0 w 1254600"/>
                  <a:gd name="connsiteY3" fmla="*/ 3006211 h 3006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4600" h="3006211">
                    <a:moveTo>
                      <a:pt x="1254600" y="3006211"/>
                    </a:moveTo>
                    <a:lnTo>
                      <a:pt x="1254600" y="0"/>
                    </a:lnTo>
                    <a:lnTo>
                      <a:pt x="1057537" y="0"/>
                    </a:lnTo>
                    <a:lnTo>
                      <a:pt x="0" y="3006211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1"/>
                  </a:gs>
                  <a:gs pos="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-1" y="4493452"/>
              <a:ext cx="2731852" cy="2364549"/>
              <a:chOff x="-1" y="4493452"/>
              <a:chExt cx="2731852" cy="2364549"/>
            </a:xfrm>
          </p:grpSpPr>
          <p:sp>
            <p:nvSpPr>
              <p:cNvPr id="47" name="Freeform: Shape 46"/>
              <p:cNvSpPr/>
              <p:nvPr/>
            </p:nvSpPr>
            <p:spPr>
              <a:xfrm rot="5400000" flipH="1">
                <a:off x="858162" y="4984311"/>
                <a:ext cx="1015527" cy="2731851"/>
              </a:xfrm>
              <a:custGeom>
                <a:avLst/>
                <a:gdLst>
                  <a:gd name="connsiteX0" fmla="*/ 1015527 w 1015527"/>
                  <a:gd name="connsiteY0" fmla="*/ 0 h 2731851"/>
                  <a:gd name="connsiteX1" fmla="*/ 0 w 1015527"/>
                  <a:gd name="connsiteY1" fmla="*/ 0 h 2731851"/>
                  <a:gd name="connsiteX2" fmla="*/ 0 w 1015527"/>
                  <a:gd name="connsiteY2" fmla="*/ 2731851 h 2731851"/>
                  <a:gd name="connsiteX3" fmla="*/ 54506 w 1015527"/>
                  <a:gd name="connsiteY3" fmla="*/ 2731851 h 2731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5527" h="2731851">
                    <a:moveTo>
                      <a:pt x="1015527" y="0"/>
                    </a:moveTo>
                    <a:lnTo>
                      <a:pt x="0" y="0"/>
                    </a:lnTo>
                    <a:lnTo>
                      <a:pt x="0" y="2731851"/>
                    </a:lnTo>
                    <a:lnTo>
                      <a:pt x="54506" y="2731851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1"/>
                  </a:gs>
                  <a:gs pos="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43" name="Freeform: Shape 42"/>
              <p:cNvSpPr/>
              <p:nvPr/>
            </p:nvSpPr>
            <p:spPr>
              <a:xfrm rot="5400000" flipH="1">
                <a:off x="-118698" y="4612150"/>
                <a:ext cx="1972614" cy="1735218"/>
              </a:xfrm>
              <a:custGeom>
                <a:avLst/>
                <a:gdLst>
                  <a:gd name="connsiteX0" fmla="*/ 1972614 w 1972614"/>
                  <a:gd name="connsiteY0" fmla="*/ 0 h 1735218"/>
                  <a:gd name="connsiteX1" fmla="*/ 610422 w 1972614"/>
                  <a:gd name="connsiteY1" fmla="*/ 0 h 1735218"/>
                  <a:gd name="connsiteX2" fmla="*/ 0 w 1972614"/>
                  <a:gd name="connsiteY2" fmla="*/ 1735218 h 1735218"/>
                  <a:gd name="connsiteX3" fmla="*/ 1362192 w 1972614"/>
                  <a:gd name="connsiteY3" fmla="*/ 1735218 h 1735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72614" h="1735218">
                    <a:moveTo>
                      <a:pt x="1972614" y="0"/>
                    </a:moveTo>
                    <a:lnTo>
                      <a:pt x="610422" y="0"/>
                    </a:lnTo>
                    <a:lnTo>
                      <a:pt x="0" y="1735218"/>
                    </a:lnTo>
                    <a:lnTo>
                      <a:pt x="1362192" y="1735218"/>
                    </a:lnTo>
                    <a:close/>
                  </a:path>
                </a:pathLst>
              </a:custGeom>
              <a:gradFill flip="none" rotWithShape="0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46" name="Freeform: Shape 45"/>
              <p:cNvSpPr/>
              <p:nvPr/>
            </p:nvSpPr>
            <p:spPr>
              <a:xfrm rot="5400000" flipH="1">
                <a:off x="128487" y="5337241"/>
                <a:ext cx="1392272" cy="1649247"/>
              </a:xfrm>
              <a:custGeom>
                <a:avLst/>
                <a:gdLst>
                  <a:gd name="connsiteX0" fmla="*/ 1392272 w 1392272"/>
                  <a:gd name="connsiteY0" fmla="*/ 0 h 1649247"/>
                  <a:gd name="connsiteX1" fmla="*/ 0 w 1392272"/>
                  <a:gd name="connsiteY1" fmla="*/ 0 h 1649247"/>
                  <a:gd name="connsiteX2" fmla="*/ 0 w 1392272"/>
                  <a:gd name="connsiteY2" fmla="*/ 1649247 h 1649247"/>
                  <a:gd name="connsiteX3" fmla="*/ 812093 w 1392272"/>
                  <a:gd name="connsiteY3" fmla="*/ 1649247 h 1649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2272" h="1649247">
                    <a:moveTo>
                      <a:pt x="1392272" y="0"/>
                    </a:moveTo>
                    <a:lnTo>
                      <a:pt x="0" y="0"/>
                    </a:lnTo>
                    <a:lnTo>
                      <a:pt x="0" y="1649247"/>
                    </a:lnTo>
                    <a:lnTo>
                      <a:pt x="812093" y="1649247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2"/>
                  </a:gs>
                  <a:gs pos="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0" y="-1"/>
              <a:ext cx="1845699" cy="2177341"/>
              <a:chOff x="0" y="-1"/>
              <a:chExt cx="1845699" cy="2177341"/>
            </a:xfrm>
          </p:grpSpPr>
          <p:sp>
            <p:nvSpPr>
              <p:cNvPr id="33" name="Freeform: Shape 32"/>
              <p:cNvSpPr/>
              <p:nvPr/>
            </p:nvSpPr>
            <p:spPr>
              <a:xfrm rot="16200000" flipH="1">
                <a:off x="-543250" y="543251"/>
                <a:ext cx="2177341" cy="1090838"/>
              </a:xfrm>
              <a:custGeom>
                <a:avLst/>
                <a:gdLst>
                  <a:gd name="connsiteX0" fmla="*/ 0 w 2177341"/>
                  <a:gd name="connsiteY0" fmla="*/ 0 h 1090838"/>
                  <a:gd name="connsiteX1" fmla="*/ 0 w 2177341"/>
                  <a:gd name="connsiteY1" fmla="*/ 1090838 h 1090838"/>
                  <a:gd name="connsiteX2" fmla="*/ 1904631 w 2177341"/>
                  <a:gd name="connsiteY2" fmla="*/ 1090838 h 1090838"/>
                  <a:gd name="connsiteX3" fmla="*/ 2177341 w 2177341"/>
                  <a:gd name="connsiteY3" fmla="*/ 0 h 1090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341" h="1090838">
                    <a:moveTo>
                      <a:pt x="0" y="0"/>
                    </a:moveTo>
                    <a:lnTo>
                      <a:pt x="0" y="1090838"/>
                    </a:lnTo>
                    <a:lnTo>
                      <a:pt x="1904631" y="1090838"/>
                    </a:lnTo>
                    <a:lnTo>
                      <a:pt x="217734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71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32" name="Freeform: Shape 31"/>
              <p:cNvSpPr/>
              <p:nvPr/>
            </p:nvSpPr>
            <p:spPr>
              <a:xfrm rot="16200000" flipH="1">
                <a:off x="-68588" y="68588"/>
                <a:ext cx="1982875" cy="1845699"/>
              </a:xfrm>
              <a:custGeom>
                <a:avLst/>
                <a:gdLst>
                  <a:gd name="connsiteX0" fmla="*/ 0 w 1982875"/>
                  <a:gd name="connsiteY0" fmla="*/ 0 h 1845699"/>
                  <a:gd name="connsiteX1" fmla="*/ 0 w 1982875"/>
                  <a:gd name="connsiteY1" fmla="*/ 1845699 h 1845699"/>
                  <a:gd name="connsiteX2" fmla="*/ 1521450 w 1982875"/>
                  <a:gd name="connsiteY2" fmla="*/ 1845699 h 1845699"/>
                  <a:gd name="connsiteX3" fmla="*/ 1982875 w 1982875"/>
                  <a:gd name="connsiteY3" fmla="*/ 0 h 1845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2875" h="1845699">
                    <a:moveTo>
                      <a:pt x="0" y="0"/>
                    </a:moveTo>
                    <a:lnTo>
                      <a:pt x="0" y="1845699"/>
                    </a:lnTo>
                    <a:lnTo>
                      <a:pt x="1521450" y="1845699"/>
                    </a:lnTo>
                    <a:lnTo>
                      <a:pt x="1982875" y="0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2"/>
                  </a:gs>
                  <a:gs pos="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29014" y="1453953"/>
            <a:ext cx="8721272" cy="2179509"/>
          </a:xfrm>
        </p:spPr>
        <p:txBody>
          <a:bodyPr anchor="b">
            <a:no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729014" y="3697781"/>
            <a:ext cx="8721272" cy="1086205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42F60154-D0BF-95B6-1586-E372179402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622" y="5796454"/>
            <a:ext cx="2562350" cy="1061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60400" y="1516428"/>
            <a:ext cx="6640286" cy="2393912"/>
          </a:xfrm>
        </p:spPr>
        <p:txBody>
          <a:bodyPr anchor="ctr">
            <a:normAutofit/>
          </a:bodyPr>
          <a:lstStyle>
            <a:lvl1pPr algn="l">
              <a:tabLst>
                <a:tab pos="4746625" algn="l"/>
              </a:tabLst>
              <a:defRPr sz="5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999679"/>
            <a:ext cx="6640286" cy="293607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4295669"/>
            <a:ext cx="6640286" cy="293607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grpSp>
          <p:nvGrpSpPr>
            <p:cNvPr id="6" name="Group 5"/>
            <p:cNvGrpSpPr/>
            <p:nvPr/>
          </p:nvGrpSpPr>
          <p:grpSpPr>
            <a:xfrm>
              <a:off x="9419170" y="5209186"/>
              <a:ext cx="2772829" cy="1648814"/>
              <a:chOff x="9419170" y="5209186"/>
              <a:chExt cx="2772829" cy="1648814"/>
            </a:xfrm>
          </p:grpSpPr>
          <p:sp>
            <p:nvSpPr>
              <p:cNvPr id="16" name="Freeform: Shape 15"/>
              <p:cNvSpPr/>
              <p:nvPr/>
            </p:nvSpPr>
            <p:spPr>
              <a:xfrm rot="5400000" flipH="1">
                <a:off x="10267779" y="4933778"/>
                <a:ext cx="1209564" cy="2638877"/>
              </a:xfrm>
              <a:custGeom>
                <a:avLst/>
                <a:gdLst>
                  <a:gd name="connsiteX0" fmla="*/ 1376765 w 1376765"/>
                  <a:gd name="connsiteY0" fmla="*/ 0 h 3003656"/>
                  <a:gd name="connsiteX1" fmla="*/ 0 w 1376765"/>
                  <a:gd name="connsiteY1" fmla="*/ 0 h 3003656"/>
                  <a:gd name="connsiteX2" fmla="*/ 0 w 1376765"/>
                  <a:gd name="connsiteY2" fmla="*/ 3003656 h 3003656"/>
                  <a:gd name="connsiteX3" fmla="*/ 320127 w 1376765"/>
                  <a:gd name="connsiteY3" fmla="*/ 3003656 h 3003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6765" h="3003656">
                    <a:moveTo>
                      <a:pt x="1376765" y="0"/>
                    </a:moveTo>
                    <a:lnTo>
                      <a:pt x="0" y="0"/>
                    </a:lnTo>
                    <a:lnTo>
                      <a:pt x="0" y="3003656"/>
                    </a:lnTo>
                    <a:lnTo>
                      <a:pt x="320127" y="3003656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2"/>
                  </a:gs>
                  <a:gs pos="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17" name="Freeform: Shape 16"/>
              <p:cNvSpPr/>
              <p:nvPr/>
            </p:nvSpPr>
            <p:spPr>
              <a:xfrm rot="5400000" flipH="1">
                <a:off x="9981178" y="4647178"/>
                <a:ext cx="1648814" cy="2772829"/>
              </a:xfrm>
              <a:custGeom>
                <a:avLst/>
                <a:gdLst>
                  <a:gd name="connsiteX0" fmla="*/ 1876734 w 1876734"/>
                  <a:gd name="connsiteY0" fmla="*/ 0 h 3156124"/>
                  <a:gd name="connsiteX1" fmla="*/ 266796 w 1876734"/>
                  <a:gd name="connsiteY1" fmla="*/ 0 h 3156124"/>
                  <a:gd name="connsiteX2" fmla="*/ 0 w 1876734"/>
                  <a:gd name="connsiteY2" fmla="*/ 758408 h 3156124"/>
                  <a:gd name="connsiteX3" fmla="*/ 0 w 1876734"/>
                  <a:gd name="connsiteY3" fmla="*/ 3156124 h 3156124"/>
                  <a:gd name="connsiteX4" fmla="*/ 766460 w 1876734"/>
                  <a:gd name="connsiteY4" fmla="*/ 3156124 h 315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76734" h="3156124">
                    <a:moveTo>
                      <a:pt x="1876734" y="0"/>
                    </a:moveTo>
                    <a:lnTo>
                      <a:pt x="266796" y="0"/>
                    </a:lnTo>
                    <a:lnTo>
                      <a:pt x="0" y="758408"/>
                    </a:lnTo>
                    <a:lnTo>
                      <a:pt x="0" y="3156124"/>
                    </a:lnTo>
                    <a:lnTo>
                      <a:pt x="766460" y="3156124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1"/>
                  </a:gs>
                  <a:gs pos="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7488700" y="881392"/>
              <a:ext cx="4200670" cy="5332569"/>
              <a:chOff x="7488700" y="881392"/>
              <a:chExt cx="4200670" cy="5332569"/>
            </a:xfrm>
          </p:grpSpPr>
          <p:sp>
            <p:nvSpPr>
              <p:cNvPr id="13" name="Parallelogram 12"/>
              <p:cNvSpPr/>
              <p:nvPr/>
            </p:nvSpPr>
            <p:spPr>
              <a:xfrm rot="16200000" flipH="1">
                <a:off x="9160185" y="2702110"/>
                <a:ext cx="3127900" cy="1930471"/>
              </a:xfrm>
              <a:prstGeom prst="parallelogram">
                <a:avLst/>
              </a:prstGeom>
              <a:gradFill flip="none" rotWithShape="1">
                <a:gsLst>
                  <a:gs pos="100000">
                    <a:schemeClr val="accent2"/>
                  </a:gs>
                  <a:gs pos="5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14" name="Parallelogram 13"/>
              <p:cNvSpPr/>
              <p:nvPr/>
            </p:nvSpPr>
            <p:spPr>
              <a:xfrm rot="16200000" flipH="1">
                <a:off x="7403824" y="2101368"/>
                <a:ext cx="4370423" cy="1930471"/>
              </a:xfrm>
              <a:prstGeom prst="parallelogram">
                <a:avLst/>
              </a:prstGeom>
              <a:gradFill flip="none" rotWithShape="0">
                <a:gsLst>
                  <a:gs pos="100000">
                    <a:schemeClr val="accent2"/>
                  </a:gs>
                  <a:gs pos="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15" name="Parallelogram 14"/>
              <p:cNvSpPr/>
              <p:nvPr/>
            </p:nvSpPr>
            <p:spPr>
              <a:xfrm rot="16200000" flipH="1">
                <a:off x="6268724" y="3063514"/>
                <a:ext cx="4370423" cy="1930471"/>
              </a:xfrm>
              <a:prstGeom prst="parallelogram">
                <a:avLst/>
              </a:prstGeom>
              <a:gradFill flip="none" rotWithShape="1">
                <a:gsLst>
                  <a:gs pos="95000">
                    <a:schemeClr val="accent1"/>
                  </a:gs>
                  <a:gs pos="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10486570" y="0"/>
              <a:ext cx="1705430" cy="924553"/>
              <a:chOff x="10486570" y="0"/>
              <a:chExt cx="1705430" cy="924553"/>
            </a:xfrm>
          </p:grpSpPr>
          <p:sp>
            <p:nvSpPr>
              <p:cNvPr id="11" name="Freeform: Shape 10"/>
              <p:cNvSpPr/>
              <p:nvPr/>
            </p:nvSpPr>
            <p:spPr>
              <a:xfrm rot="5400000" flipH="1">
                <a:off x="11300792" y="33346"/>
                <a:ext cx="924553" cy="857862"/>
              </a:xfrm>
              <a:custGeom>
                <a:avLst/>
                <a:gdLst>
                  <a:gd name="connsiteX0" fmla="*/ 924553 w 924553"/>
                  <a:gd name="connsiteY0" fmla="*/ 843553 h 857862"/>
                  <a:gd name="connsiteX1" fmla="*/ 924553 w 924553"/>
                  <a:gd name="connsiteY1" fmla="*/ 0 h 857862"/>
                  <a:gd name="connsiteX2" fmla="*/ 301782 w 924553"/>
                  <a:gd name="connsiteY2" fmla="*/ 0 h 857862"/>
                  <a:gd name="connsiteX3" fmla="*/ 0 w 924553"/>
                  <a:gd name="connsiteY3" fmla="*/ 857862 h 857862"/>
                  <a:gd name="connsiteX4" fmla="*/ 919520 w 924553"/>
                  <a:gd name="connsiteY4" fmla="*/ 857862 h 857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4553" h="857862">
                    <a:moveTo>
                      <a:pt x="924553" y="843553"/>
                    </a:moveTo>
                    <a:lnTo>
                      <a:pt x="924553" y="0"/>
                    </a:lnTo>
                    <a:lnTo>
                      <a:pt x="301782" y="0"/>
                    </a:lnTo>
                    <a:lnTo>
                      <a:pt x="0" y="857862"/>
                    </a:lnTo>
                    <a:lnTo>
                      <a:pt x="919520" y="857862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2"/>
                  </a:gs>
                  <a:gs pos="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12" name="Freeform: Shape 11"/>
              <p:cNvSpPr/>
              <p:nvPr/>
            </p:nvSpPr>
            <p:spPr>
              <a:xfrm rot="5400000" flipH="1">
                <a:off x="10987786" y="-501216"/>
                <a:ext cx="702998" cy="1705429"/>
              </a:xfrm>
              <a:custGeom>
                <a:avLst/>
                <a:gdLst>
                  <a:gd name="connsiteX0" fmla="*/ 918094 w 918094"/>
                  <a:gd name="connsiteY0" fmla="*/ 2227238 h 2227238"/>
                  <a:gd name="connsiteX1" fmla="*/ 918094 w 918094"/>
                  <a:gd name="connsiteY1" fmla="*/ 0 h 2227238"/>
                  <a:gd name="connsiteX2" fmla="*/ 783507 w 918094"/>
                  <a:gd name="connsiteY2" fmla="*/ 0 h 2227238"/>
                  <a:gd name="connsiteX3" fmla="*/ 0 w 918094"/>
                  <a:gd name="connsiteY3" fmla="*/ 2227238 h 2227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18094" h="2227238">
                    <a:moveTo>
                      <a:pt x="918094" y="2227238"/>
                    </a:moveTo>
                    <a:lnTo>
                      <a:pt x="918094" y="0"/>
                    </a:lnTo>
                    <a:lnTo>
                      <a:pt x="783507" y="0"/>
                    </a:lnTo>
                    <a:lnTo>
                      <a:pt x="0" y="2227238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1"/>
                  </a:gs>
                  <a:gs pos="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  <p:sp>
          <p:nvSpPr>
            <p:cNvPr id="9" name="Freeform: Shape 8"/>
            <p:cNvSpPr/>
            <p:nvPr/>
          </p:nvSpPr>
          <p:spPr>
            <a:xfrm rot="5400000" flipH="1">
              <a:off x="449000" y="-449000"/>
              <a:ext cx="1308654" cy="2206655"/>
            </a:xfrm>
            <a:custGeom>
              <a:avLst/>
              <a:gdLst>
                <a:gd name="connsiteX0" fmla="*/ 1308654 w 1308654"/>
                <a:gd name="connsiteY0" fmla="*/ 2206655 h 2206655"/>
                <a:gd name="connsiteX1" fmla="*/ 1308654 w 1308654"/>
                <a:gd name="connsiteY1" fmla="*/ 0 h 2206655"/>
                <a:gd name="connsiteX2" fmla="*/ 863867 w 1308654"/>
                <a:gd name="connsiteY2" fmla="*/ 0 h 2206655"/>
                <a:gd name="connsiteX3" fmla="*/ 0 w 1308654"/>
                <a:gd name="connsiteY3" fmla="*/ 2206655 h 220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8654" h="2206655">
                  <a:moveTo>
                    <a:pt x="1308654" y="2206655"/>
                  </a:moveTo>
                  <a:lnTo>
                    <a:pt x="1308654" y="0"/>
                  </a:lnTo>
                  <a:lnTo>
                    <a:pt x="863867" y="0"/>
                  </a:lnTo>
                  <a:lnTo>
                    <a:pt x="0" y="2206655"/>
                  </a:lnTo>
                  <a:close/>
                </a:path>
              </a:pathLst>
            </a:custGeom>
            <a:gradFill flip="none" rotWithShape="0">
              <a:gsLst>
                <a:gs pos="100000">
                  <a:schemeClr val="accent2"/>
                </a:gs>
                <a:gs pos="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0" name="Freeform: Shape 9"/>
            <p:cNvSpPr/>
            <p:nvPr/>
          </p:nvSpPr>
          <p:spPr>
            <a:xfrm rot="5400000" flipH="1">
              <a:off x="345972" y="5380613"/>
              <a:ext cx="1131415" cy="1823359"/>
            </a:xfrm>
            <a:custGeom>
              <a:avLst/>
              <a:gdLst>
                <a:gd name="connsiteX0" fmla="*/ 1131415 w 1131415"/>
                <a:gd name="connsiteY0" fmla="*/ 0 h 1823359"/>
                <a:gd name="connsiteX1" fmla="*/ 0 w 1131415"/>
                <a:gd name="connsiteY1" fmla="*/ 0 h 1823359"/>
                <a:gd name="connsiteX2" fmla="*/ 0 w 1131415"/>
                <a:gd name="connsiteY2" fmla="*/ 1823359 h 1823359"/>
                <a:gd name="connsiteX3" fmla="*/ 489987 w 1131415"/>
                <a:gd name="connsiteY3" fmla="*/ 1823359 h 182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1415" h="1823359">
                  <a:moveTo>
                    <a:pt x="1131415" y="0"/>
                  </a:moveTo>
                  <a:lnTo>
                    <a:pt x="0" y="0"/>
                  </a:lnTo>
                  <a:lnTo>
                    <a:pt x="0" y="1823359"/>
                  </a:lnTo>
                  <a:lnTo>
                    <a:pt x="489987" y="1823359"/>
                  </a:lnTo>
                  <a:close/>
                </a:path>
              </a:pathLst>
            </a:custGeom>
            <a:gradFill flip="none" rotWithShape="0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-1" y="275358"/>
            <a:ext cx="12192002" cy="6582642"/>
            <a:chOff x="-1" y="275358"/>
            <a:chExt cx="12192002" cy="6582642"/>
          </a:xfrm>
        </p:grpSpPr>
        <p:grpSp>
          <p:nvGrpSpPr>
            <p:cNvPr id="22" name="Group 21"/>
            <p:cNvGrpSpPr/>
            <p:nvPr/>
          </p:nvGrpSpPr>
          <p:grpSpPr>
            <a:xfrm>
              <a:off x="-1" y="275358"/>
              <a:ext cx="614363" cy="939076"/>
              <a:chOff x="-1" y="275358"/>
              <a:chExt cx="614363" cy="939076"/>
            </a:xfrm>
          </p:grpSpPr>
          <p:sp>
            <p:nvSpPr>
              <p:cNvPr id="20" name="Freeform: Shape 19"/>
              <p:cNvSpPr/>
              <p:nvPr/>
            </p:nvSpPr>
            <p:spPr>
              <a:xfrm rot="5400000" flipH="1">
                <a:off x="9665" y="265692"/>
                <a:ext cx="595032" cy="614363"/>
              </a:xfrm>
              <a:custGeom>
                <a:avLst/>
                <a:gdLst>
                  <a:gd name="connsiteX0" fmla="*/ 595032 w 595032"/>
                  <a:gd name="connsiteY0" fmla="*/ 0 h 614363"/>
                  <a:gd name="connsiteX1" fmla="*/ 216123 w 595032"/>
                  <a:gd name="connsiteY1" fmla="*/ 0 h 614363"/>
                  <a:gd name="connsiteX2" fmla="*/ 0 w 595032"/>
                  <a:gd name="connsiteY2" fmla="*/ 614363 h 614363"/>
                  <a:gd name="connsiteX3" fmla="*/ 378909 w 595032"/>
                  <a:gd name="connsiteY3" fmla="*/ 614363 h 6143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5032" h="614363">
                    <a:moveTo>
                      <a:pt x="595032" y="0"/>
                    </a:moveTo>
                    <a:lnTo>
                      <a:pt x="216123" y="0"/>
                    </a:lnTo>
                    <a:lnTo>
                      <a:pt x="0" y="614363"/>
                    </a:lnTo>
                    <a:lnTo>
                      <a:pt x="378909" y="614363"/>
                    </a:lnTo>
                    <a:close/>
                  </a:path>
                </a:pathLst>
              </a:custGeom>
              <a:gradFill flip="none" rotWithShape="0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21" name="Freeform: Shape 20"/>
              <p:cNvSpPr/>
              <p:nvPr/>
            </p:nvSpPr>
            <p:spPr>
              <a:xfrm rot="5400000" flipH="1">
                <a:off x="-39090" y="584895"/>
                <a:ext cx="668629" cy="590449"/>
              </a:xfrm>
              <a:custGeom>
                <a:avLst/>
                <a:gdLst>
                  <a:gd name="connsiteX0" fmla="*/ 668629 w 668629"/>
                  <a:gd name="connsiteY0" fmla="*/ 0 h 590449"/>
                  <a:gd name="connsiteX1" fmla="*/ 207711 w 668629"/>
                  <a:gd name="connsiteY1" fmla="*/ 0 h 590449"/>
                  <a:gd name="connsiteX2" fmla="*/ 0 w 668629"/>
                  <a:gd name="connsiteY2" fmla="*/ 590449 h 590449"/>
                  <a:gd name="connsiteX3" fmla="*/ 460918 w 668629"/>
                  <a:gd name="connsiteY3" fmla="*/ 590449 h 590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8629" h="590449">
                    <a:moveTo>
                      <a:pt x="668629" y="0"/>
                    </a:moveTo>
                    <a:lnTo>
                      <a:pt x="207711" y="0"/>
                    </a:lnTo>
                    <a:lnTo>
                      <a:pt x="0" y="590449"/>
                    </a:lnTo>
                    <a:lnTo>
                      <a:pt x="460918" y="590449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2"/>
                  </a:gs>
                  <a:gs pos="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9227965" y="5974717"/>
              <a:ext cx="2964036" cy="883283"/>
              <a:chOff x="9227965" y="5974717"/>
              <a:chExt cx="2964036" cy="883283"/>
            </a:xfrm>
          </p:grpSpPr>
          <p:sp>
            <p:nvSpPr>
              <p:cNvPr id="25" name="Freeform: Shape 24"/>
              <p:cNvSpPr/>
              <p:nvPr/>
            </p:nvSpPr>
            <p:spPr>
              <a:xfrm rot="5400000" flipH="1">
                <a:off x="10268341" y="4934341"/>
                <a:ext cx="883283" cy="2964036"/>
              </a:xfrm>
              <a:custGeom>
                <a:avLst/>
                <a:gdLst>
                  <a:gd name="connsiteX0" fmla="*/ 883283 w 883283"/>
                  <a:gd name="connsiteY0" fmla="*/ 0 h 2964036"/>
                  <a:gd name="connsiteX1" fmla="*/ 0 w 883283"/>
                  <a:gd name="connsiteY1" fmla="*/ 0 h 2964036"/>
                  <a:gd name="connsiteX2" fmla="*/ 0 w 883283"/>
                  <a:gd name="connsiteY2" fmla="*/ 2964036 h 2964036"/>
                  <a:gd name="connsiteX3" fmla="*/ 221141 w 883283"/>
                  <a:gd name="connsiteY3" fmla="*/ 2964036 h 29640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3283" h="2964036">
                    <a:moveTo>
                      <a:pt x="883283" y="0"/>
                    </a:moveTo>
                    <a:lnTo>
                      <a:pt x="0" y="0"/>
                    </a:lnTo>
                    <a:lnTo>
                      <a:pt x="0" y="2964036"/>
                    </a:lnTo>
                    <a:lnTo>
                      <a:pt x="221141" y="2964036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1"/>
                  </a:gs>
                  <a:gs pos="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26" name="Freeform: Shape 25"/>
              <p:cNvSpPr/>
              <p:nvPr/>
            </p:nvSpPr>
            <p:spPr>
              <a:xfrm rot="5400000" flipH="1">
                <a:off x="10847691" y="5513692"/>
                <a:ext cx="490942" cy="2197674"/>
              </a:xfrm>
              <a:custGeom>
                <a:avLst/>
                <a:gdLst>
                  <a:gd name="connsiteX0" fmla="*/ 490942 w 490942"/>
                  <a:gd name="connsiteY0" fmla="*/ 0 h 2197674"/>
                  <a:gd name="connsiteX1" fmla="*/ 0 w 490942"/>
                  <a:gd name="connsiteY1" fmla="*/ 0 h 2197674"/>
                  <a:gd name="connsiteX2" fmla="*/ 0 w 490942"/>
                  <a:gd name="connsiteY2" fmla="*/ 2197674 h 2197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0942" h="2197674">
                    <a:moveTo>
                      <a:pt x="490942" y="0"/>
                    </a:moveTo>
                    <a:lnTo>
                      <a:pt x="0" y="0"/>
                    </a:lnTo>
                    <a:lnTo>
                      <a:pt x="0" y="2197674"/>
                    </a:lnTo>
                    <a:close/>
                  </a:path>
                </a:pathLst>
              </a:custGeom>
              <a:gradFill flip="none" rotWithShape="0">
                <a:gsLst>
                  <a:gs pos="100000">
                    <a:schemeClr val="accent2"/>
                  </a:gs>
                  <a:gs pos="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505479"/>
            <a:ext cx="10858500" cy="523220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  <p15:guide id="7" pos="41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jmoneco.2008.05.010" TargetMode="External"/><Relationship Id="rId2" Type="http://schemas.openxmlformats.org/officeDocument/2006/relationships/hyperlink" Target="https://doi.org/10.1016/j.csda.2011.03.006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oi.org/10.1016/S0169-2070(00)00065-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6072" y="991125"/>
            <a:ext cx="7182574" cy="2137298"/>
          </a:xfrm>
        </p:spPr>
        <p:txBody>
          <a:bodyPr>
            <a:normAutofit/>
          </a:bodyPr>
          <a:lstStyle/>
          <a:p>
            <a:r>
              <a:rPr lang="en-US" dirty="0"/>
              <a:t>CMG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0405" y="3231912"/>
            <a:ext cx="6403187" cy="995332"/>
          </a:xfrm>
        </p:spPr>
        <p:txBody>
          <a:bodyPr/>
          <a:lstStyle/>
          <a:p>
            <a:r>
              <a:rPr lang="en-US" altLang="zh-CN" b="1" dirty="0"/>
              <a:t>Data Harmonization and Revenue Estimation using Nowcasting Methods</a:t>
            </a:r>
            <a:endParaRPr lang="en-US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5" y="4330733"/>
            <a:ext cx="6692895" cy="650513"/>
          </a:xfrm>
        </p:spPr>
        <p:txBody>
          <a:bodyPr>
            <a:normAutofit/>
          </a:bodyPr>
          <a:lstStyle/>
          <a:p>
            <a:r>
              <a:rPr lang="en-US" sz="1600" dirty="0"/>
              <a:t>Nathan Zhang, </a:t>
            </a:r>
            <a:r>
              <a:rPr lang="en-US" altLang="zh-CN" sz="1600" dirty="0"/>
              <a:t>2026/03/01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2903" y="2933716"/>
            <a:ext cx="1763799" cy="915667"/>
          </a:xfrm>
        </p:spPr>
        <p:txBody>
          <a:bodyPr>
            <a:normAutofit/>
          </a:bodyPr>
          <a:lstStyle/>
          <a:p>
            <a:r>
              <a:rPr lang="en-US" dirty="0"/>
              <a:t>Process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FDC82EA-A1C1-2961-C2C7-D54DB496EA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7150938"/>
              </p:ext>
            </p:extLst>
          </p:nvPr>
        </p:nvGraphicFramePr>
        <p:xfrm>
          <a:off x="4078422" y="3100016"/>
          <a:ext cx="6852683" cy="42689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07983205-D12C-5877-206F-89941A19C37B}"/>
              </a:ext>
            </a:extLst>
          </p:cNvPr>
          <p:cNvSpPr txBox="1">
            <a:spLocks/>
          </p:cNvSpPr>
          <p:nvPr/>
        </p:nvSpPr>
        <p:spPr>
          <a:xfrm>
            <a:off x="3732903" y="596152"/>
            <a:ext cx="1157784" cy="75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Task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9A5890-9595-3232-F891-752084436B72}"/>
              </a:ext>
            </a:extLst>
          </p:cNvPr>
          <p:cNvSpPr txBox="1"/>
          <p:nvPr/>
        </p:nvSpPr>
        <p:spPr>
          <a:xfrm>
            <a:off x="3867374" y="1350085"/>
            <a:ext cx="7401261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Provide a holistic Jan--Oct 2025 view of monthly accruals by delivering actual and estimated revenue and RPS across key dimensions using complete stream data to bridge revenue reporting delays.</a:t>
            </a:r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85260E-C1ED-2818-BCC4-F69633ECCBD8}"/>
              </a:ext>
            </a:extLst>
          </p:cNvPr>
          <p:cNvSpPr txBox="1"/>
          <p:nvPr/>
        </p:nvSpPr>
        <p:spPr>
          <a:xfrm>
            <a:off x="3033657" y="6422316"/>
            <a:ext cx="650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 Implementation and exploration details in </a:t>
            </a:r>
            <a:r>
              <a:rPr lang="en-US" altLang="zh-CN" dirty="0" err="1"/>
              <a:t>Jupyter</a:t>
            </a:r>
            <a:r>
              <a:rPr lang="en-US" altLang="zh-CN" dirty="0"/>
              <a:t> notebooks.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EDA and Identification of Problems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CC48B6-5A84-80B6-DE1A-20B423892E0D}"/>
              </a:ext>
            </a:extLst>
          </p:cNvPr>
          <p:cNvSpPr txBox="1"/>
          <p:nvPr/>
        </p:nvSpPr>
        <p:spPr>
          <a:xfrm>
            <a:off x="5928258" y="1100157"/>
            <a:ext cx="5682781" cy="2580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Problems noted: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Dimension mismatch: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Revenue data: </a:t>
            </a:r>
            <a:r>
              <a:rPr lang="en-US" altLang="zh-CN" i="1" dirty="0"/>
              <a:t>27 DSPs, 10 major territories.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Stream data: </a:t>
            </a:r>
            <a:r>
              <a:rPr lang="en-US" altLang="zh-CN" i="1" dirty="0"/>
              <a:t>5 major DSPs, 250 countries.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High inaccuracies due to delay in reports.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Low readability due to noise and separate tables.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02F578-3E85-FEE2-0E9B-766621391AA7}"/>
              </a:ext>
            </a:extLst>
          </p:cNvPr>
          <p:cNvSpPr txBox="1"/>
          <p:nvPr/>
        </p:nvSpPr>
        <p:spPr>
          <a:xfrm>
            <a:off x="660400" y="1100157"/>
            <a:ext cx="5077187" cy="4657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Variable of interests: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Time</a:t>
            </a:r>
            <a:r>
              <a:rPr lang="en-US" altLang="zh-CN" dirty="0"/>
              <a:t>: Jan, 2025 -- Oct, 2025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Business units</a:t>
            </a:r>
            <a:r>
              <a:rPr lang="en-US" altLang="zh-CN" dirty="0"/>
              <a:t>: 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Major DSPs</a:t>
            </a:r>
            <a:r>
              <a:rPr lang="en-US" altLang="zh-CN" dirty="0"/>
              <a:t>: 5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Amazon, Apple, Spotify, TikTok, YouTube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Major Territories</a:t>
            </a:r>
            <a:r>
              <a:rPr lang="en-US" altLang="zh-CN" dirty="0"/>
              <a:t>: 10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USA, UK, Canada, Australia, etc.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Revenue (inaccurate)</a:t>
            </a:r>
            <a:r>
              <a:rPr lang="en-US" altLang="zh-CN" dirty="0"/>
              <a:t>: 1812 non-nulls, </a:t>
            </a:r>
            <a:r>
              <a:rPr lang="en-US" altLang="zh-CN" i="1" dirty="0" err="1"/>
              <a:t>total_gross_amount</a:t>
            </a:r>
            <a:r>
              <a:rPr lang="en-US" altLang="zh-CN" i="1" dirty="0"/>
              <a:t> </a:t>
            </a:r>
            <a:endParaRPr lang="en-US" altLang="zh-CN" b="1" i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Stream (accurate)</a:t>
            </a:r>
            <a:r>
              <a:rPr lang="en-US" altLang="zh-CN" dirty="0"/>
              <a:t>: 2000 non-nulls, </a:t>
            </a:r>
            <a:r>
              <a:rPr lang="en-US" altLang="zh-CN" i="1" dirty="0" err="1"/>
              <a:t>total_streams</a:t>
            </a:r>
            <a:endParaRPr lang="en-US" altLang="zh-CN" b="1" i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4AECFF-2C66-5F24-2A45-DFA854E0AFB8}"/>
              </a:ext>
            </a:extLst>
          </p:cNvPr>
          <p:cNvSpPr/>
          <p:nvPr/>
        </p:nvSpPr>
        <p:spPr>
          <a:xfrm>
            <a:off x="5928258" y="4173430"/>
            <a:ext cx="5739974" cy="128875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+mj-ea"/>
                <a:ea typeface="+mj-ea"/>
              </a:rPr>
              <a:t>Next Step: data harmonization and quality augmentation through estimations.</a:t>
            </a:r>
            <a:endParaRPr lang="zh-CN" altLang="en-US" sz="2000" b="1" dirty="0">
              <a:latin typeface="+mj-ea"/>
              <a:ea typeface="+mj-ea"/>
            </a:endParaRPr>
          </a:p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B1994-A017-FB1B-E962-60F0D9A6D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Harmonization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696123-73DD-5E81-6D16-F3DD9666E757}"/>
                  </a:ext>
                </a:extLst>
              </p:cNvPr>
              <p:cNvSpPr txBox="1"/>
              <p:nvPr/>
            </p:nvSpPr>
            <p:spPr>
              <a:xfrm>
                <a:off x="660400" y="1162414"/>
                <a:ext cx="6230253" cy="5027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 dirty="0"/>
                  <a:t>Standardized Dimensions</a:t>
                </a:r>
                <a:r>
                  <a:rPr lang="en-US" altLang="zh-CN" dirty="0"/>
                  <a:t>: Mapped to 5 major DSPs and aligned countries to 10 territories.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 dirty="0"/>
                  <a:t>Aggregated Metrics</a:t>
                </a:r>
                <a:r>
                  <a:rPr lang="en-US" altLang="zh-CN" dirty="0"/>
                  <a:t>: Summed total revenue and streams by Cohorts.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 dirty="0"/>
                  <a:t>Unified Dataset</a:t>
                </a:r>
                <a:r>
                  <a:rPr lang="en-US" altLang="zh-CN" dirty="0"/>
                  <a:t>: Merged the revenue and stream datasets via an outer join.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 dirty="0"/>
                  <a:t>Quality Assurance</a:t>
                </a:r>
                <a:r>
                  <a:rPr lang="en-US" altLang="zh-CN" dirty="0"/>
                  <a:t>: 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Verified final dataset shape: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10 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𝑀𝑜𝑛𝑡h𝑠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×10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𝑇𝑒𝑟𝑟𝑖𝑡𝑜𝑟𝑖𝑒𝑠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×4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𝐵𝑈𝑠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×5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𝐷𝑆𝑃𝑠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= 2000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𝑂𝑏𝑠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Flagged missing/zero values and outliers: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Missing / zero values: 286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Abnormalities (High Stream, Low Revenue): 52  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696123-73DD-5E81-6D16-F3DD9666E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1162414"/>
                <a:ext cx="6230253" cy="5027017"/>
              </a:xfrm>
              <a:prstGeom prst="rect">
                <a:avLst/>
              </a:prstGeom>
              <a:blipFill>
                <a:blip r:embed="rId2"/>
                <a:stretch>
                  <a:fillRect l="-587" b="-10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BC3EE63-B7F6-665D-8861-D8A489628B07}"/>
              </a:ext>
            </a:extLst>
          </p:cNvPr>
          <p:cNvSpPr txBox="1"/>
          <p:nvPr/>
        </p:nvSpPr>
        <p:spPr>
          <a:xfrm>
            <a:off x="7014491" y="4567049"/>
            <a:ext cx="4463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Distribution of flagged data that requires feature-based imputations.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C17886-A3F0-865B-BE0A-08A6F1235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491" y="1162415"/>
            <a:ext cx="4262257" cy="340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050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913A7-4914-7176-9CFA-044D4DD3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Estimation: Ensure Holistic Revenue Reports</a:t>
            </a:r>
            <a:endParaRPr lang="zh-CN" alt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DFCAB-FDB3-2B07-89C4-B2B48D6BA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1752644"/>
            <a:ext cx="5852923" cy="4033898"/>
          </a:xfrm>
          <a:prstGeom prst="rect">
            <a:avLst/>
          </a:prstGeom>
        </p:spPr>
      </p:pic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D1641946-AD46-47C5-5B2E-D172013587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543890"/>
              </p:ext>
            </p:extLst>
          </p:nvPr>
        </p:nvGraphicFramePr>
        <p:xfrm>
          <a:off x="7112571" y="1582220"/>
          <a:ext cx="3993793" cy="43747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526D8AB-D58E-2387-FE9E-FA6F61A451B3}"/>
              </a:ext>
            </a:extLst>
          </p:cNvPr>
          <p:cNvSpPr txBox="1"/>
          <p:nvPr/>
        </p:nvSpPr>
        <p:spPr>
          <a:xfrm>
            <a:off x="6335444" y="1833938"/>
            <a:ext cx="5548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How does lag-aware hierarchical nowcast work? </a:t>
            </a:r>
            <a:endParaRPr lang="zh-CN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643EB1-FAAA-6BE9-3835-4ACB64A8683A}"/>
              </a:ext>
            </a:extLst>
          </p:cNvPr>
          <p:cNvSpPr txBox="1"/>
          <p:nvPr/>
        </p:nvSpPr>
        <p:spPr>
          <a:xfrm>
            <a:off x="660400" y="1177962"/>
            <a:ext cx="10612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Key Assumption: Stream data is </a:t>
            </a:r>
            <a:r>
              <a:rPr lang="en-US" altLang="zh-CN" b="1" dirty="0">
                <a:solidFill>
                  <a:schemeClr val="accent1"/>
                </a:solidFill>
              </a:rPr>
              <a:t>complete and accurate</a:t>
            </a:r>
            <a:r>
              <a:rPr lang="en-US" altLang="zh-CN" b="1" dirty="0"/>
              <a:t>, serving as an </a:t>
            </a:r>
            <a:r>
              <a:rPr lang="en-US" altLang="zh-CN" b="1" dirty="0">
                <a:solidFill>
                  <a:schemeClr val="accent1"/>
                </a:solidFill>
              </a:rPr>
              <a:t>anchor</a:t>
            </a:r>
            <a:r>
              <a:rPr lang="en-US" altLang="zh-CN" b="1" dirty="0"/>
              <a:t> for estimation.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832940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F82C1-02A4-7C7E-4BFE-3D9D3130C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265078"/>
            <a:ext cx="10858500" cy="523220"/>
          </a:xfrm>
        </p:spPr>
        <p:txBody>
          <a:bodyPr/>
          <a:lstStyle/>
          <a:p>
            <a:r>
              <a:rPr lang="en-US" altLang="zh-CN" dirty="0"/>
              <a:t>Repeated Stress Test and Method Selection 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B17EA7-EF6E-4A6A-D92D-DCB6656B41BE}"/>
              </a:ext>
            </a:extLst>
          </p:cNvPr>
          <p:cNvSpPr txBox="1"/>
          <p:nvPr/>
        </p:nvSpPr>
        <p:spPr>
          <a:xfrm>
            <a:off x="737960" y="1157630"/>
            <a:ext cx="4981522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Selection Criteria: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Metrics:</a:t>
            </a:r>
            <a:r>
              <a:rPr lang="en-US" altLang="zh-CN" dirty="0"/>
              <a:t> Evaluated accuracy using WMAPE and MAE under repeated stress tests.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Distributional:</a:t>
            </a:r>
            <a:r>
              <a:rPr lang="en-US" altLang="zh-CN" dirty="0"/>
              <a:t> Analyzing the mean, standard deviation and percentile of the error distribution.</a:t>
            </a:r>
            <a:endParaRPr lang="zh-CN" alt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765D42-498D-7B94-3586-17796268C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047593"/>
              </p:ext>
            </p:extLst>
          </p:nvPr>
        </p:nvGraphicFramePr>
        <p:xfrm>
          <a:off x="6095999" y="1277092"/>
          <a:ext cx="5635812" cy="2686064"/>
        </p:xfrm>
        <a:graphic>
          <a:graphicData uri="http://schemas.openxmlformats.org/drawingml/2006/table">
            <a:tbl>
              <a:tblPr lastCol="1">
                <a:tableStyleId>{284E427A-3D55-4303-BF80-6455036E1DE7}</a:tableStyleId>
              </a:tblPr>
              <a:tblGrid>
                <a:gridCol w="1408953">
                  <a:extLst>
                    <a:ext uri="{9D8B030D-6E8A-4147-A177-3AD203B41FA5}">
                      <a16:colId xmlns:a16="http://schemas.microsoft.com/office/drawing/2014/main" val="2800050074"/>
                    </a:ext>
                  </a:extLst>
                </a:gridCol>
                <a:gridCol w="1408953">
                  <a:extLst>
                    <a:ext uri="{9D8B030D-6E8A-4147-A177-3AD203B41FA5}">
                      <a16:colId xmlns:a16="http://schemas.microsoft.com/office/drawing/2014/main" val="1065111441"/>
                    </a:ext>
                  </a:extLst>
                </a:gridCol>
                <a:gridCol w="1408953">
                  <a:extLst>
                    <a:ext uri="{9D8B030D-6E8A-4147-A177-3AD203B41FA5}">
                      <a16:colId xmlns:a16="http://schemas.microsoft.com/office/drawing/2014/main" val="2452617409"/>
                    </a:ext>
                  </a:extLst>
                </a:gridCol>
                <a:gridCol w="1408953">
                  <a:extLst>
                    <a:ext uri="{9D8B030D-6E8A-4147-A177-3AD203B41FA5}">
                      <a16:colId xmlns:a16="http://schemas.microsoft.com/office/drawing/2014/main" val="1674966522"/>
                    </a:ext>
                  </a:extLst>
                </a:gridCol>
              </a:tblGrid>
              <a:tr h="335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Mean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P50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P90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0124851"/>
                  </a:ext>
                </a:extLst>
              </a:tr>
              <a:tr h="335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Lag-Hier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/>
                        <a:t>0.1003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0.0946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0" dirty="0"/>
                        <a:t>0.1451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5285178"/>
                  </a:ext>
                </a:extLst>
              </a:tr>
              <a:tr h="335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EPSR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0.1020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0.0964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0"/>
                        <a:t>0.1464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421446"/>
                  </a:ext>
                </a:extLst>
              </a:tr>
              <a:tr h="335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Group 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0.1299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/>
                        <a:t>0.1292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0"/>
                        <a:t>0.1855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4876743"/>
                  </a:ext>
                </a:extLst>
              </a:tr>
              <a:tr h="335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LGBM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/>
                        <a:t>0.1666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/>
                        <a:t>0.1315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0"/>
                        <a:t>0.3141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704687"/>
                  </a:ext>
                </a:extLst>
              </a:tr>
              <a:tr h="335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0.1761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0.1450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0"/>
                        <a:t>0.2884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416235"/>
                  </a:ext>
                </a:extLst>
              </a:tr>
              <a:tr h="335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Naive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0.1871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/>
                        <a:t>0.1346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0" dirty="0"/>
                        <a:t>0.3723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476695"/>
                  </a:ext>
                </a:extLst>
              </a:tr>
              <a:tr h="335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KNN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0.2738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0.2629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0" dirty="0"/>
                        <a:t>0.4206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866838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A6B4ECC-AFCC-1E83-0305-F9A88CA29C2A}"/>
              </a:ext>
            </a:extLst>
          </p:cNvPr>
          <p:cNvSpPr txBox="1"/>
          <p:nvPr/>
        </p:nvSpPr>
        <p:spPr>
          <a:xfrm>
            <a:off x="6095999" y="788298"/>
            <a:ext cx="5121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Test Results (WMAPE, Reps = 30):</a:t>
            </a:r>
            <a:endParaRPr lang="zh-CN" altLang="en-US" b="1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067B6C6-4811-261B-5036-480EA144C9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3019821"/>
              </p:ext>
            </p:extLst>
          </p:nvPr>
        </p:nvGraphicFramePr>
        <p:xfrm>
          <a:off x="737960" y="4251917"/>
          <a:ext cx="10593428" cy="1737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EC3FB51-1818-87ED-BD58-D7ECD959D7AE}"/>
              </a:ext>
            </a:extLst>
          </p:cNvPr>
          <p:cNvSpPr txBox="1"/>
          <p:nvPr/>
        </p:nvSpPr>
        <p:spPr>
          <a:xfrm>
            <a:off x="660399" y="3838220"/>
            <a:ext cx="322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Test Process: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958449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9B321-91F7-0DEE-56BD-871E57C30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Final Deliverables</a:t>
            </a:r>
            <a:endParaRPr lang="zh-CN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F4E6975-C9EB-D2A4-BFA0-C36641909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" y="997209"/>
            <a:ext cx="6601012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/>
              <a:t>Processed Data Structure: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b="1" dirty="0"/>
              <a:t>Months and Cohorts of Interest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b="1" dirty="0"/>
              <a:t>Baseline Metrics :</a:t>
            </a:r>
            <a:r>
              <a:rPr lang="zh-CN" altLang="zh-CN" dirty="0"/>
              <a:t> </a:t>
            </a:r>
            <a:endParaRPr lang="en-US" altLang="zh-CN" dirty="0"/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Included the total streams and reported gross revenue</a:t>
            </a:r>
            <a:endParaRPr lang="en-US" altLang="zh-CN" b="1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b="1" dirty="0"/>
              <a:t>The Predictions:</a:t>
            </a:r>
            <a:r>
              <a:rPr lang="zh-CN" altLang="zh-CN" dirty="0"/>
              <a:t> </a:t>
            </a:r>
            <a:endParaRPr lang="en-US" altLang="zh-CN" dirty="0"/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dirty="0"/>
              <a:t>The final synthesized revenue figure</a:t>
            </a:r>
            <a:r>
              <a:rPr lang="en-US" altLang="zh-CN" dirty="0"/>
              <a:t> (actual and pred).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b="1" dirty="0"/>
              <a:t>Prediction</a:t>
            </a:r>
            <a:r>
              <a:rPr lang="zh-CN" altLang="zh-CN" b="1" dirty="0"/>
              <a:t> Intervals</a:t>
            </a:r>
            <a:r>
              <a:rPr lang="en-US" altLang="zh-CN" b="1" dirty="0"/>
              <a:t> (Nowcasted Values Only)</a:t>
            </a:r>
            <a:r>
              <a:rPr lang="zh-CN" altLang="zh-CN" b="1" dirty="0"/>
              <a:t>:</a:t>
            </a:r>
            <a:r>
              <a:rPr lang="zh-CN" altLang="zh-CN" dirty="0"/>
              <a:t> </a:t>
            </a:r>
            <a:endParaRPr lang="en-US" altLang="zh-CN" dirty="0"/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dirty="0"/>
              <a:t>Lower </a:t>
            </a:r>
            <a:r>
              <a:rPr lang="en-US" altLang="zh-CN" dirty="0"/>
              <a:t>a</a:t>
            </a:r>
            <a:r>
              <a:rPr lang="zh-CN" altLang="zh-CN" dirty="0"/>
              <a:t>nd Upper bounds to quantify model uncertainty.</a:t>
            </a:r>
            <a:endParaRPr lang="en-US" altLang="zh-CN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b="1" dirty="0"/>
              <a:t>RPS</a:t>
            </a:r>
            <a:r>
              <a:rPr lang="en-US" altLang="zh-CN" b="1" dirty="0"/>
              <a:t> (Revenue per Million Streams)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b="1" dirty="0"/>
              <a:t>Audit </a:t>
            </a:r>
            <a:r>
              <a:rPr lang="en-US" altLang="zh-CN" b="1" dirty="0"/>
              <a:t>and</a:t>
            </a:r>
            <a:r>
              <a:rPr lang="zh-CN" altLang="zh-CN" b="1" dirty="0"/>
              <a:t> Quality Flags:</a:t>
            </a:r>
            <a:r>
              <a:rPr lang="zh-CN" altLang="zh-CN" dirty="0"/>
              <a:t> </a:t>
            </a:r>
            <a:endParaRPr lang="en-US" altLang="zh-CN" dirty="0"/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dirty="0"/>
              <a:t>Categorical flags explaining why a data point was </a:t>
            </a:r>
            <a:r>
              <a:rPr lang="en-US" altLang="zh-CN" dirty="0"/>
              <a:t>imputed </a:t>
            </a:r>
            <a:r>
              <a:rPr lang="zh-CN" altLang="zh-CN" dirty="0"/>
              <a:t>and confirming its "nowcasted"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A9A4611-810A-BC10-28B0-97AEA15F9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456997"/>
              </p:ext>
            </p:extLst>
          </p:nvPr>
        </p:nvGraphicFramePr>
        <p:xfrm>
          <a:off x="7654066" y="1028699"/>
          <a:ext cx="4168587" cy="4356846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389529">
                  <a:extLst>
                    <a:ext uri="{9D8B030D-6E8A-4147-A177-3AD203B41FA5}">
                      <a16:colId xmlns:a16="http://schemas.microsoft.com/office/drawing/2014/main" val="2524554205"/>
                    </a:ext>
                  </a:extLst>
                </a:gridCol>
                <a:gridCol w="1389529">
                  <a:extLst>
                    <a:ext uri="{9D8B030D-6E8A-4147-A177-3AD203B41FA5}">
                      <a16:colId xmlns:a16="http://schemas.microsoft.com/office/drawing/2014/main" val="334163670"/>
                    </a:ext>
                  </a:extLst>
                </a:gridCol>
                <a:gridCol w="1389529">
                  <a:extLst>
                    <a:ext uri="{9D8B030D-6E8A-4147-A177-3AD203B41FA5}">
                      <a16:colId xmlns:a16="http://schemas.microsoft.com/office/drawing/2014/main" val="3442229274"/>
                    </a:ext>
                  </a:extLst>
                </a:gridCol>
              </a:tblGrid>
              <a:tr h="726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Category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Metric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Value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1957866"/>
                  </a:ext>
                </a:extLst>
              </a:tr>
              <a:tr h="726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Total Volume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Total Rows Processed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/>
                        <a:t>2,000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2432553"/>
                  </a:ext>
                </a:extLst>
              </a:tr>
              <a:tr h="726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Data Source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Actual Data Rows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1,662 (83%)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5598698"/>
                  </a:ext>
                </a:extLst>
              </a:tr>
              <a:tr h="726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Data Source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Nowcasted Rows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338 (17%)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5539143"/>
                  </a:ext>
                </a:extLst>
              </a:tr>
              <a:tr h="726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Data Quality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Quality Flag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/>
                        <a:t>52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90418"/>
                  </a:ext>
                </a:extLst>
              </a:tr>
              <a:tr h="726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Integrity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Severe Suspicious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/>
                        <a:t>0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4343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933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CC6DF-BEBB-25FA-ED27-F964DDC66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Findings and Discussions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3B5AF4-D164-5A24-ADBF-2AC393FC8650}"/>
              </a:ext>
            </a:extLst>
          </p:cNvPr>
          <p:cNvSpPr txBox="1"/>
          <p:nvPr/>
        </p:nvSpPr>
        <p:spPr>
          <a:xfrm>
            <a:off x="460188" y="3889871"/>
            <a:ext cx="6131859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RPS by DSP exhibits </a:t>
            </a:r>
            <a:r>
              <a:rPr lang="en-US" altLang="zh-CN" dirty="0">
                <a:solidFill>
                  <a:schemeClr val="accent1"/>
                </a:solidFill>
              </a:rPr>
              <a:t>consistent performance </a:t>
            </a:r>
            <a:r>
              <a:rPr lang="en-US" altLang="zh-CN" dirty="0"/>
              <a:t>over time.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Forecasted data confirms the order of RPS rankings remained unchanged.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The output data was </a:t>
            </a:r>
            <a:r>
              <a:rPr lang="en-US" altLang="zh-CN" dirty="0">
                <a:solidFill>
                  <a:schemeClr val="accent1"/>
                </a:solidFill>
              </a:rPr>
              <a:t>manually inspected </a:t>
            </a:r>
            <a:r>
              <a:rPr lang="en-US" altLang="zh-CN" dirty="0"/>
              <a:t>to ensure no formatting anomalies exist.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2EFEBA-4F7E-E0BF-6A22-DAAA3EE21492}"/>
              </a:ext>
            </a:extLst>
          </p:cNvPr>
          <p:cNvSpPr txBox="1"/>
          <p:nvPr/>
        </p:nvSpPr>
        <p:spPr>
          <a:xfrm>
            <a:off x="6592047" y="1028699"/>
            <a:ext cx="5186829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Limitations and Future Improvement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Current Constraint: </a:t>
            </a:r>
            <a:r>
              <a:rPr lang="en-US" altLang="zh-CN" dirty="0"/>
              <a:t>Limited historical data currently results in wide uncertainty bands and high model variance.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Data Enrichment: </a:t>
            </a:r>
            <a:r>
              <a:rPr lang="en-US" altLang="zh-CN" dirty="0"/>
              <a:t>Integrate multi-year history and exogenous features like pricing and promos.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Advanced Modeling: </a:t>
            </a:r>
            <a:r>
              <a:rPr lang="en-US" altLang="zh-CN" dirty="0"/>
              <a:t>Transition to more advanced probabilistic frameworks for granular risk quantification.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9256D-4B08-D593-3EBB-64EE6D792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1240894"/>
            <a:ext cx="5342853" cy="264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18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EEF3E-6792-7D16-68C3-71DC26B53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Reproducible Workflow (Python Script)</a:t>
            </a:r>
            <a:endParaRPr lang="zh-CN" alt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1E836CA-EA59-3C09-5470-A4BEED7D53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2901048"/>
              </p:ext>
            </p:extLst>
          </p:nvPr>
        </p:nvGraphicFramePr>
        <p:xfrm>
          <a:off x="877481" y="583336"/>
          <a:ext cx="10437037" cy="3063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9B0D7F-B66B-D14D-F80A-748982891F23}"/>
              </a:ext>
            </a:extLst>
          </p:cNvPr>
          <p:cNvSpPr/>
          <p:nvPr/>
        </p:nvSpPr>
        <p:spPr>
          <a:xfrm>
            <a:off x="1184717" y="4465644"/>
            <a:ext cx="9771912" cy="104996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000" dirty="0"/>
              <a:t>Finance team now has a complete, auditable monthly revenue view through Oct 2025 with a clear distinction between reported actuals and model-estimated values.</a:t>
            </a:r>
            <a:endParaRPr lang="zh-CN" altLang="en-US" sz="20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39CB5F1-9ACB-82C4-1A30-0146F2949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5370" y="2756329"/>
            <a:ext cx="972125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Packaged 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functions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 utility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scripts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easy reuse.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Process massive datasets more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efficiently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SQL.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One-click 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re-run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effectLst/>
              </a:rPr>
              <a:t>clear output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lang="en-US" altLang="zh-CN" sz="2000" dirty="0"/>
              <a:t>in </a:t>
            </a:r>
            <a:r>
              <a:rPr lang="en-US" altLang="zh-CN" sz="2000" dirty="0">
                <a:solidFill>
                  <a:schemeClr val="accent1"/>
                </a:solidFill>
              </a:rPr>
              <a:t>csv and xlsx formats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audit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able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reports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203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705745" y="3789909"/>
            <a:ext cx="6640286" cy="684781"/>
          </a:xfrm>
        </p:spPr>
        <p:txBody>
          <a:bodyPr>
            <a:normAutofit fontScale="25000" lnSpcReduction="20000"/>
          </a:bodyPr>
          <a:lstStyle/>
          <a:p>
            <a:r>
              <a:rPr lang="en-US" sz="7200" dirty="0"/>
              <a:t>Nathan Zhang</a:t>
            </a:r>
          </a:p>
          <a:p>
            <a:r>
              <a:rPr lang="en-US" altLang="zh-CN" sz="7200" dirty="0"/>
              <a:t>2026/03/01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C0370-A7A5-0CAD-87FD-C648A0C14BFD}"/>
              </a:ext>
            </a:extLst>
          </p:cNvPr>
          <p:cNvSpPr txBox="1"/>
          <p:nvPr/>
        </p:nvSpPr>
        <p:spPr>
          <a:xfrm>
            <a:off x="705744" y="3105385"/>
            <a:ext cx="7339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Please see the attached </a:t>
            </a:r>
            <a:r>
              <a:rPr lang="en-US" altLang="zh-CN" sz="2000" dirty="0" err="1"/>
              <a:t>Jupyter</a:t>
            </a:r>
            <a:r>
              <a:rPr lang="en-US" altLang="zh-CN" sz="2000" dirty="0"/>
              <a:t> notebooks for details.</a:t>
            </a:r>
            <a:endParaRPr lang="zh-CN" alt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FC1B66-4ED8-4E44-BB73-6EEF6C7DD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3262" y="5748282"/>
            <a:ext cx="2919642" cy="1209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542BD-70A6-0B96-BD91-FDA06C00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References</a:t>
            </a:r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1AE47-D1A9-5C0A-C893-FD71C82C10AC}"/>
              </a:ext>
            </a:extLst>
          </p:cNvPr>
          <p:cNvSpPr txBox="1"/>
          <p:nvPr/>
        </p:nvSpPr>
        <p:spPr>
          <a:xfrm>
            <a:off x="812799" y="1147483"/>
            <a:ext cx="9263530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Hyndman, Rob J., Roman A. Ahmed, George Athanasopoulos, and Han Lin Shang. 2011. “Optimal Combination Forecasts for Hierarchical Time Series.” </a:t>
            </a:r>
            <a:r>
              <a:rPr lang="en-US" altLang="zh-CN" i="1" dirty="0"/>
              <a:t>Computational Statistics &amp; Data Analysis</a:t>
            </a:r>
            <a:r>
              <a:rPr lang="en-US" altLang="zh-CN" dirty="0"/>
              <a:t> 55 (9): 2579–89. </a:t>
            </a:r>
            <a:r>
              <a:rPr lang="en-US" altLang="zh-CN" dirty="0">
                <a:hlinkClick r:id="rId2"/>
              </a:rPr>
              <a:t>https://doi.org/10.1016/j.csda.2011.03.006</a:t>
            </a:r>
            <a:r>
              <a:rPr lang="en-US" altLang="zh-CN" dirty="0"/>
              <a:t>. </a:t>
            </a:r>
            <a:r>
              <a:rPr lang="zh-CN" altLang="en-US" dirty="0"/>
              <a:t> </a:t>
            </a:r>
            <a:endParaRPr lang="en-US" altLang="zh-CN" dirty="0"/>
          </a:p>
          <a:p>
            <a:pPr marL="285750" indent="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Giannone, Domenico, Lucrezia Reichlin, and David Small. 2008. “Nowcasting: The Real-Time Informational Content of Macroeconomic Data.” Journal of Monetary Economics 55 (4): 665–76. </a:t>
            </a:r>
            <a:r>
              <a:rPr lang="en-US" altLang="zh-CN" dirty="0">
                <a:hlinkClick r:id="rId3"/>
              </a:rPr>
              <a:t>https://doi.org/10.1016/j.jmoneco.2008.05.010</a:t>
            </a:r>
            <a:r>
              <a:rPr lang="en-US" altLang="zh-CN" dirty="0"/>
              <a:t>. </a:t>
            </a:r>
          </a:p>
          <a:p>
            <a:pPr marL="285750" indent="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Tashman, Leonard J. 2000. “Out-of-Sample Tests of Forecasting Accuracy: An Analysis and Review.” International Journal of Forecasting 16 (4): 437–50. </a:t>
            </a:r>
            <a:r>
              <a:rPr lang="en-US" altLang="zh-CN" dirty="0">
                <a:hlinkClick r:id="rId4"/>
              </a:rPr>
              <a:t>https://doi.org/10.1016/S0169-2070(00)00065-0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19296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OfficePLUS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4381DD"/>
      </a:accent1>
      <a:accent2>
        <a:srgbClr val="62CB78"/>
      </a:accent2>
      <a:accent3>
        <a:srgbClr val="44B4CF"/>
      </a:accent3>
      <a:accent4>
        <a:srgbClr val="3861C3"/>
      </a:accent4>
      <a:accent5>
        <a:srgbClr val="564EF8"/>
      </a:accent5>
      <a:accent6>
        <a:srgbClr val="0070C0"/>
      </a:accent6>
      <a:hlink>
        <a:srgbClr val="564EF8"/>
      </a:hlink>
      <a:folHlink>
        <a:srgbClr val="BFBFBF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892</Words>
  <Application>Microsoft Office PowerPoint</Application>
  <PresentationFormat>Widescreen</PresentationFormat>
  <Paragraphs>146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Cambria Math</vt:lpstr>
      <vt:lpstr>Designed by OfficePLUS</vt:lpstr>
      <vt:lpstr>CMG Case Study</vt:lpstr>
      <vt:lpstr>Process</vt:lpstr>
      <vt:lpstr>EDA and Identification of Problems</vt:lpstr>
      <vt:lpstr>Data Harmonization</vt:lpstr>
      <vt:lpstr>Estimation: Ensure Holistic Revenue Reports</vt:lpstr>
      <vt:lpstr>Repeated Stress Test and Method Selection </vt:lpstr>
      <vt:lpstr>Final Deliverables</vt:lpstr>
      <vt:lpstr>Findings and Discussions</vt:lpstr>
      <vt:lpstr>Reproducible Workflow (Python Script)</vt:lpstr>
      <vt:lpstr>Thank you</vt:lpstr>
      <vt:lpstr>References</vt:lpstr>
    </vt:vector>
  </TitlesOfParts>
  <Company>OfficePLUS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Kaiyan Zhang</cp:lastModifiedBy>
  <cp:revision>14</cp:revision>
  <cp:lastPrinted>2025-07-22T16:00:00Z</cp:lastPrinted>
  <dcterms:created xsi:type="dcterms:W3CDTF">2025-07-22T16:00:00Z</dcterms:created>
  <dcterms:modified xsi:type="dcterms:W3CDTF">2026-02-28T22:17:52Z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5801b796-8d2f-46a4-8f3c-0dfd3c552e32</vt:lpwstr>
  </property>
</Properties>
</file>